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show the same data — a scatter of institutions positioned by two hypothetical variables. The purple diamond is Holy Cross.
On the LEFT, we measure distance the standard way — as the crow flies. The concentric circles are contours of equal Euclidean distance from the anchor. Every point on a given circle is equally far from Holy Cross. The four purple-circled dots are our nearest Euclidean peers — schools that are close along both variables simultaneously.
On the RIGHT, same data, same anchor. But now the contours are ELLIPSES, stretched along the natural pattern in the data. Under Mahalanobis, "close" means "sitting on the same institutional pattern the anchor sits on." The four orange-circled dots are the Mahalanobis peers — notice they are actually FURTHER from Holy Cross by simple straight-line distance, but they follow the underlying pattern more closely.
The takeaway: same data, two legitimate but different notions of "close." Euclidean answers "who has similar numbers?" Mahalanobis answers "who fits the same archetype?" Neither is wrong — they answer different questions. The next slide covers when each one is the right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1000" dirty="0">
                <a:solidFill>
                  <a:srgbClr val="5A4A62"/>
                </a:solidFill>
                <a:latin typeface="Calibri" pitchFamily="34" charset="0"/>
                <a:ea typeface="Calibri" pitchFamily="34" charset="-122"/>
                <a:cs typeface="Calibri" pitchFamily="34" charset="-120"/>
              </a:rPr>
              <a:t>Peer Schools Explorer</a:t>
            </a:r>
            <a:endParaRPr lang="en-US" sz="1000" dirty="0"/>
          </a:p>
        </p:txBody>
      </p:sp>
      <p:sp>
        <p:nvSpPr>
          <p:cNvPr id="3" name="Text 1"/>
          <p:cNvSpPr/>
          <p:nvPr/>
        </p:nvSpPr>
        <p:spPr>
          <a:xfrm>
            <a:off x="6245352" y="6446520"/>
            <a:ext cx="5486400" cy="274320"/>
          </a:xfrm>
          <a:prstGeom prst="rect">
            <a:avLst/>
          </a:prstGeom>
          <a:noFill/>
          <a:ln/>
        </p:spPr>
        <p:txBody>
          <a:bodyPr wrap="square" rtlCol="0" anchor="ctr"/>
          <a:lstStyle/>
          <a:p>
            <a:pPr algn="r" indent="0" marL="0">
              <a:buNone/>
            </a:pPr>
            <a:r>
              <a:rPr lang="en-US" sz="1000" dirty="0">
                <a:solidFill>
                  <a:srgbClr val="5A4A62"/>
                </a:solidFill>
                <a:latin typeface="Calibri" pitchFamily="34" charset="0"/>
                <a:ea typeface="Calibri" pitchFamily="34" charset="-122"/>
                <a:cs typeface="Calibri" pitchFamily="34" charset="-120"/>
              </a:rPr>
              <a:t>Holy Cross Institutional Research</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1230"/>
        </a:solidFill>
      </p:bgPr>
    </p:bg>
    <p:spTree>
      <p:nvGrpSpPr>
        <p:cNvPr id="1" name=""/>
        <p:cNvGrpSpPr/>
        <p:nvPr/>
      </p:nvGrpSpPr>
      <p:grpSpPr>
        <a:xfrm>
          <a:off x="0" y="0"/>
          <a:ext cx="0" cy="0"/>
          <a:chOff x="0" y="0"/>
          <a:chExt cx="0" cy="0"/>
        </a:xfrm>
      </p:grpSpPr>
      <p:sp>
        <p:nvSpPr>
          <p:cNvPr id="2" name="Text 0"/>
          <p:cNvSpPr/>
          <p:nvPr/>
        </p:nvSpPr>
        <p:spPr>
          <a:xfrm>
            <a:off x="457200" y="2377440"/>
            <a:ext cx="11247120" cy="128016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Peer Schools Explorer</a:t>
            </a:r>
            <a:endParaRPr lang="en-US" sz="5600" dirty="0"/>
          </a:p>
        </p:txBody>
      </p:sp>
      <p:sp>
        <p:nvSpPr>
          <p:cNvPr id="3" name="Text 1"/>
          <p:cNvSpPr/>
          <p:nvPr/>
        </p:nvSpPr>
        <p:spPr>
          <a:xfrm>
            <a:off x="457200" y="3611880"/>
            <a:ext cx="11247120" cy="548640"/>
          </a:xfrm>
          <a:prstGeom prst="rect">
            <a:avLst/>
          </a:prstGeom>
          <a:noFill/>
          <a:ln/>
        </p:spPr>
        <p:txBody>
          <a:bodyPr wrap="square" rtlCol="0" anchor="ctr"/>
          <a:lstStyle/>
          <a:p>
            <a:pPr algn="ctr" indent="0" marL="0">
              <a:buNone/>
            </a:pPr>
            <a:r>
              <a:rPr lang="en-US" sz="2400" i="1" dirty="0">
                <a:solidFill>
                  <a:srgbClr val="F4EDEC"/>
                </a:solidFill>
                <a:latin typeface="Calibri" pitchFamily="34" charset="0"/>
                <a:ea typeface="Calibri" pitchFamily="34" charset="-122"/>
                <a:cs typeface="Calibri" pitchFamily="34" charset="-120"/>
              </a:rPr>
              <a:t>A tool for institutional peer analysis</a:t>
            </a:r>
            <a:endParaRPr lang="en-US" sz="2400" dirty="0"/>
          </a:p>
        </p:txBody>
      </p:sp>
      <p:sp>
        <p:nvSpPr>
          <p:cNvPr id="4" name="Shape 2"/>
          <p:cNvSpPr/>
          <p:nvPr/>
        </p:nvSpPr>
        <p:spPr>
          <a:xfrm>
            <a:off x="5632704" y="4297680"/>
            <a:ext cx="914400" cy="45720"/>
          </a:xfrm>
          <a:prstGeom prst="rect">
            <a:avLst/>
          </a:prstGeom>
          <a:solidFill>
            <a:srgbClr val="EA580C"/>
          </a:solidFill>
          <a:ln/>
        </p:spPr>
      </p:sp>
      <p:sp>
        <p:nvSpPr>
          <p:cNvPr id="5" name="Text 3"/>
          <p:cNvSpPr/>
          <p:nvPr/>
        </p:nvSpPr>
        <p:spPr>
          <a:xfrm>
            <a:off x="457200" y="5394960"/>
            <a:ext cx="1124712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Chris Wenz</a:t>
            </a:r>
            <a:pPr algn="ctr" indent="0" marL="0">
              <a:buNone/>
            </a:pPr>
            <a:r>
              <a:rPr lang="en-US" sz="1800" dirty="0">
                <a:solidFill>
                  <a:srgbClr val="AC9E94"/>
                </a:solidFill>
                <a:latin typeface="Calibri" pitchFamily="34" charset="0"/>
                <a:ea typeface="Calibri" pitchFamily="34" charset="-122"/>
                <a:cs typeface="Calibri" pitchFamily="34" charset="-120"/>
              </a:rPr>
              <a:t>  ·  Institutional Research  ·  August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11247120" cy="822960"/>
          </a:xfrm>
          <a:prstGeom prst="rect">
            <a:avLst/>
          </a:prstGeom>
          <a:noFill/>
          <a:ln/>
        </p:spPr>
        <p:txBody>
          <a:bodyPr wrap="square" rtlCol="0" anchor="ctr"/>
          <a:lstStyle/>
          <a:p>
            <a:pPr indent="0" marL="0">
              <a:buNone/>
            </a:pPr>
            <a:r>
              <a:rPr lang="en-US" sz="3600" b="1" dirty="0">
                <a:solidFill>
                  <a:srgbClr val="251230"/>
                </a:solidFill>
                <a:latin typeface="Cambria" pitchFamily="34" charset="0"/>
                <a:ea typeface="Cambria" pitchFamily="34" charset="-122"/>
                <a:cs typeface="Cambria" pitchFamily="34" charset="-120"/>
              </a:rPr>
              <a:t>The mental model</a:t>
            </a:r>
            <a:endParaRPr lang="en-US" sz="3600" dirty="0"/>
          </a:p>
        </p:txBody>
      </p:sp>
      <p:sp>
        <p:nvSpPr>
          <p:cNvPr id="3" name="Shape 1"/>
          <p:cNvSpPr/>
          <p:nvPr/>
        </p:nvSpPr>
        <p:spPr>
          <a:xfrm>
            <a:off x="548640" y="1554480"/>
            <a:ext cx="685800" cy="685800"/>
          </a:xfrm>
          <a:prstGeom prst="ellipse">
            <a:avLst/>
          </a:prstGeom>
          <a:solidFill>
            <a:srgbClr val="602D89"/>
          </a:solidFill>
          <a:ln/>
        </p:spPr>
      </p:sp>
      <p:sp>
        <p:nvSpPr>
          <p:cNvPr id="4" name="Text 2"/>
          <p:cNvSpPr/>
          <p:nvPr/>
        </p:nvSpPr>
        <p:spPr>
          <a:xfrm>
            <a:off x="548640" y="155448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5" name="Text 3"/>
          <p:cNvSpPr/>
          <p:nvPr/>
        </p:nvSpPr>
        <p:spPr>
          <a:xfrm>
            <a:off x="1463040" y="1508760"/>
            <a:ext cx="4846320" cy="457200"/>
          </a:xfrm>
          <a:prstGeom prst="rect">
            <a:avLst/>
          </a:prstGeom>
          <a:noFill/>
          <a:ln/>
        </p:spPr>
        <p:txBody>
          <a:bodyPr wrap="square" rtlCol="0" anchor="ctr"/>
          <a:lstStyle/>
          <a:p>
            <a:pPr indent="0" marL="0">
              <a:buNone/>
            </a:pPr>
            <a:r>
              <a:rPr lang="en-US" sz="1800" b="1" dirty="0">
                <a:solidFill>
                  <a:srgbClr val="251230"/>
                </a:solidFill>
                <a:latin typeface="Calibri" pitchFamily="34" charset="0"/>
                <a:ea typeface="Calibri" pitchFamily="34" charset="-122"/>
                <a:cs typeface="Calibri" pitchFamily="34" charset="-120"/>
              </a:rPr>
              <a:t>Every school becomes a point</a:t>
            </a:r>
            <a:endParaRPr lang="en-US" sz="1800" dirty="0"/>
          </a:p>
        </p:txBody>
      </p:sp>
      <p:sp>
        <p:nvSpPr>
          <p:cNvPr id="6" name="Text 4"/>
          <p:cNvSpPr/>
          <p:nvPr/>
        </p:nvSpPr>
        <p:spPr>
          <a:xfrm>
            <a:off x="1463040" y="1965960"/>
            <a:ext cx="4846320" cy="914400"/>
          </a:xfrm>
          <a:prstGeom prst="rect">
            <a:avLst/>
          </a:prstGeom>
          <a:noFill/>
          <a:ln/>
        </p:spPr>
        <p:txBody>
          <a:bodyPr wrap="square" rtlCol="0" anchor="ctr"/>
          <a:lstStyle/>
          <a:p>
            <a:pPr indent="0" marL="0">
              <a:buNone/>
            </a:pPr>
            <a:r>
              <a:rPr lang="en-US" sz="1300" dirty="0">
                <a:solidFill>
                  <a:srgbClr val="1F1226"/>
                </a:solidFill>
                <a:latin typeface="Calibri" pitchFamily="34" charset="0"/>
                <a:ea typeface="Calibri" pitchFamily="34" charset="-122"/>
                <a:cs typeface="Calibri" pitchFamily="34" charset="-120"/>
              </a:rPr>
              <a:t>in a high-dimensional space — one axis per variable (grad rate, endowment per FTE, admit rate, athletics division, and ~44 more).</a:t>
            </a:r>
            <a:endParaRPr lang="en-US" sz="1300" dirty="0"/>
          </a:p>
        </p:txBody>
      </p:sp>
      <p:sp>
        <p:nvSpPr>
          <p:cNvPr id="7" name="Shape 5"/>
          <p:cNvSpPr/>
          <p:nvPr/>
        </p:nvSpPr>
        <p:spPr>
          <a:xfrm>
            <a:off x="548640" y="3017520"/>
            <a:ext cx="685800" cy="685800"/>
          </a:xfrm>
          <a:prstGeom prst="ellipse">
            <a:avLst/>
          </a:prstGeom>
          <a:solidFill>
            <a:srgbClr val="602D89"/>
          </a:solidFill>
          <a:ln/>
        </p:spPr>
      </p:sp>
      <p:sp>
        <p:nvSpPr>
          <p:cNvPr id="8" name="Text 6"/>
          <p:cNvSpPr/>
          <p:nvPr/>
        </p:nvSpPr>
        <p:spPr>
          <a:xfrm>
            <a:off x="548640" y="301752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9" name="Text 7"/>
          <p:cNvSpPr/>
          <p:nvPr/>
        </p:nvSpPr>
        <p:spPr>
          <a:xfrm>
            <a:off x="1463040" y="2971800"/>
            <a:ext cx="4846320" cy="457200"/>
          </a:xfrm>
          <a:prstGeom prst="rect">
            <a:avLst/>
          </a:prstGeom>
          <a:noFill/>
          <a:ln/>
        </p:spPr>
        <p:txBody>
          <a:bodyPr wrap="square" rtlCol="0" anchor="ctr"/>
          <a:lstStyle/>
          <a:p>
            <a:pPr indent="0" marL="0">
              <a:buNone/>
            </a:pPr>
            <a:r>
              <a:rPr lang="en-US" sz="1800" b="1" dirty="0">
                <a:solidFill>
                  <a:srgbClr val="251230"/>
                </a:solidFill>
                <a:latin typeface="Calibri" pitchFamily="34" charset="0"/>
                <a:ea typeface="Calibri" pitchFamily="34" charset="-122"/>
                <a:cs typeface="Calibri" pitchFamily="34" charset="-120"/>
              </a:rPr>
              <a:t>Distance = dissimilarity</a:t>
            </a:r>
            <a:endParaRPr lang="en-US" sz="1800" dirty="0"/>
          </a:p>
        </p:txBody>
      </p:sp>
      <p:sp>
        <p:nvSpPr>
          <p:cNvPr id="10" name="Text 8"/>
          <p:cNvSpPr/>
          <p:nvPr/>
        </p:nvSpPr>
        <p:spPr>
          <a:xfrm>
            <a:off x="1463040" y="3429000"/>
            <a:ext cx="4846320" cy="914400"/>
          </a:xfrm>
          <a:prstGeom prst="rect">
            <a:avLst/>
          </a:prstGeom>
          <a:noFill/>
          <a:ln/>
        </p:spPr>
        <p:txBody>
          <a:bodyPr wrap="square" rtlCol="0" anchor="ctr"/>
          <a:lstStyle/>
          <a:p>
            <a:pPr indent="0" marL="0">
              <a:buNone/>
            </a:pPr>
            <a:r>
              <a:rPr lang="en-US" sz="1300" dirty="0">
                <a:solidFill>
                  <a:srgbClr val="1F1226"/>
                </a:solidFill>
                <a:latin typeface="Calibri" pitchFamily="34" charset="0"/>
                <a:ea typeface="Calibri" pitchFamily="34" charset="-122"/>
                <a:cs typeface="Calibri" pitchFamily="34" charset="-120"/>
              </a:rPr>
              <a:t>The farther apart two schools are in that space, the more different they are on the variables we chose.</a:t>
            </a:r>
            <a:endParaRPr lang="en-US" sz="1300" dirty="0"/>
          </a:p>
        </p:txBody>
      </p:sp>
      <p:sp>
        <p:nvSpPr>
          <p:cNvPr id="11" name="Shape 9"/>
          <p:cNvSpPr/>
          <p:nvPr/>
        </p:nvSpPr>
        <p:spPr>
          <a:xfrm>
            <a:off x="548640" y="4480560"/>
            <a:ext cx="685800" cy="685800"/>
          </a:xfrm>
          <a:prstGeom prst="ellipse">
            <a:avLst/>
          </a:prstGeom>
          <a:solidFill>
            <a:srgbClr val="602D89"/>
          </a:solidFill>
          <a:ln/>
        </p:spPr>
      </p:sp>
      <p:sp>
        <p:nvSpPr>
          <p:cNvPr id="12" name="Text 10"/>
          <p:cNvSpPr/>
          <p:nvPr/>
        </p:nvSpPr>
        <p:spPr>
          <a:xfrm>
            <a:off x="548640" y="448056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3" name="Text 11"/>
          <p:cNvSpPr/>
          <p:nvPr/>
        </p:nvSpPr>
        <p:spPr>
          <a:xfrm>
            <a:off x="1463040" y="4434840"/>
            <a:ext cx="4846320" cy="457200"/>
          </a:xfrm>
          <a:prstGeom prst="rect">
            <a:avLst/>
          </a:prstGeom>
          <a:noFill/>
          <a:ln/>
        </p:spPr>
        <p:txBody>
          <a:bodyPr wrap="square" rtlCol="0" anchor="ctr"/>
          <a:lstStyle/>
          <a:p>
            <a:pPr indent="0" marL="0">
              <a:buNone/>
            </a:pPr>
            <a:r>
              <a:rPr lang="en-US" sz="1800" b="1" dirty="0">
                <a:solidFill>
                  <a:srgbClr val="251230"/>
                </a:solidFill>
                <a:latin typeface="Calibri" pitchFamily="34" charset="0"/>
                <a:ea typeface="Calibri" pitchFamily="34" charset="-122"/>
                <a:cs typeface="Calibri" pitchFamily="34" charset="-120"/>
              </a:rPr>
              <a:t>Peers = the closest points</a:t>
            </a:r>
            <a:endParaRPr lang="en-US" sz="1800" dirty="0"/>
          </a:p>
        </p:txBody>
      </p:sp>
      <p:sp>
        <p:nvSpPr>
          <p:cNvPr id="14" name="Text 12"/>
          <p:cNvSpPr/>
          <p:nvPr/>
        </p:nvSpPr>
        <p:spPr>
          <a:xfrm>
            <a:off x="1463040" y="4892040"/>
            <a:ext cx="4846320" cy="914400"/>
          </a:xfrm>
          <a:prstGeom prst="rect">
            <a:avLst/>
          </a:prstGeom>
          <a:noFill/>
          <a:ln/>
        </p:spPr>
        <p:txBody>
          <a:bodyPr wrap="square" rtlCol="0" anchor="ctr"/>
          <a:lstStyle/>
          <a:p>
            <a:pPr indent="0" marL="0">
              <a:buNone/>
            </a:pPr>
            <a:r>
              <a:rPr lang="en-US" sz="1300" dirty="0">
                <a:solidFill>
                  <a:srgbClr val="1F1226"/>
                </a:solidFill>
                <a:latin typeface="Calibri" pitchFamily="34" charset="0"/>
                <a:ea typeface="Calibri" pitchFamily="34" charset="-122"/>
                <a:cs typeface="Calibri" pitchFamily="34" charset="-120"/>
              </a:rPr>
              <a:t>to your anchor school. The tool reports the top 20 (or whatever K you choose) sorted by that distance.</a:t>
            </a:r>
            <a:endParaRPr lang="en-US" sz="1300" dirty="0"/>
          </a:p>
        </p:txBody>
      </p:sp>
      <p:sp>
        <p:nvSpPr>
          <p:cNvPr id="15" name="Shape 13"/>
          <p:cNvSpPr/>
          <p:nvPr/>
        </p:nvSpPr>
        <p:spPr>
          <a:xfrm>
            <a:off x="6858000" y="1554480"/>
            <a:ext cx="4846320" cy="4480560"/>
          </a:xfrm>
          <a:prstGeom prst="rect">
            <a:avLst/>
          </a:prstGeom>
          <a:solidFill>
            <a:srgbClr val="F4EDEC"/>
          </a:solidFill>
          <a:ln w="9525">
            <a:solidFill>
              <a:srgbClr val="AC9E94"/>
            </a:solidFill>
            <a:prstDash val="solid"/>
          </a:ln>
        </p:spPr>
      </p:sp>
      <p:sp>
        <p:nvSpPr>
          <p:cNvPr id="16" name="Text 14"/>
          <p:cNvSpPr/>
          <p:nvPr/>
        </p:nvSpPr>
        <p:spPr>
          <a:xfrm>
            <a:off x="6858000" y="1600200"/>
            <a:ext cx="4846320" cy="320040"/>
          </a:xfrm>
          <a:prstGeom prst="rect">
            <a:avLst/>
          </a:prstGeom>
          <a:noFill/>
          <a:ln/>
        </p:spPr>
        <p:txBody>
          <a:bodyPr wrap="square" rtlCol="0" anchor="ctr"/>
          <a:lstStyle/>
          <a:p>
            <a:pPr algn="ctr" indent="0" marL="0">
              <a:buNone/>
            </a:pPr>
            <a:r>
              <a:rPr lang="en-US" sz="1200" i="1" dirty="0">
                <a:solidFill>
                  <a:srgbClr val="5A4A62"/>
                </a:solidFill>
                <a:latin typeface="Calibri" pitchFamily="34" charset="0"/>
                <a:ea typeface="Calibri" pitchFamily="34" charset="-122"/>
                <a:cs typeface="Calibri" pitchFamily="34" charset="-120"/>
              </a:rPr>
              <a:t>Institutional space (simplified to 2D)</a:t>
            </a:r>
            <a:endParaRPr lang="en-US" sz="1200" dirty="0"/>
          </a:p>
        </p:txBody>
      </p:sp>
      <p:sp>
        <p:nvSpPr>
          <p:cNvPr id="17" name="Shape 15"/>
          <p:cNvSpPr/>
          <p:nvPr/>
        </p:nvSpPr>
        <p:spPr>
          <a:xfrm>
            <a:off x="7223760" y="2011680"/>
            <a:ext cx="4114800" cy="3840480"/>
          </a:xfrm>
          <a:prstGeom prst="rect">
            <a:avLst/>
          </a:prstGeom>
          <a:solidFill>
            <a:srgbClr val="FFFFFF"/>
          </a:solidFill>
          <a:ln w="6350">
            <a:solidFill>
              <a:srgbClr val="AC9E94"/>
            </a:solidFill>
            <a:prstDash val="solid"/>
          </a:ln>
        </p:spPr>
      </p:sp>
      <p:sp>
        <p:nvSpPr>
          <p:cNvPr id="18" name="Shape 16"/>
          <p:cNvSpPr/>
          <p:nvPr/>
        </p:nvSpPr>
        <p:spPr>
          <a:xfrm>
            <a:off x="8319142" y="4744274"/>
            <a:ext cx="109728" cy="109728"/>
          </a:xfrm>
          <a:prstGeom prst="ellipse">
            <a:avLst/>
          </a:prstGeom>
          <a:solidFill>
            <a:srgbClr val="AC9E94"/>
          </a:solidFill>
          <a:ln w="6350">
            <a:solidFill>
              <a:srgbClr val="5A4A62"/>
            </a:solidFill>
            <a:prstDash val="solid"/>
          </a:ln>
        </p:spPr>
      </p:sp>
      <p:sp>
        <p:nvSpPr>
          <p:cNvPr id="19" name="Shape 17"/>
          <p:cNvSpPr/>
          <p:nvPr/>
        </p:nvSpPr>
        <p:spPr>
          <a:xfrm>
            <a:off x="8435491" y="4639703"/>
            <a:ext cx="109728" cy="109728"/>
          </a:xfrm>
          <a:prstGeom prst="ellipse">
            <a:avLst/>
          </a:prstGeom>
          <a:solidFill>
            <a:srgbClr val="AC9E94"/>
          </a:solidFill>
          <a:ln w="6350">
            <a:solidFill>
              <a:srgbClr val="5A4A62"/>
            </a:solidFill>
            <a:prstDash val="solid"/>
          </a:ln>
        </p:spPr>
      </p:sp>
      <p:sp>
        <p:nvSpPr>
          <p:cNvPr id="20" name="Shape 18"/>
          <p:cNvSpPr/>
          <p:nvPr/>
        </p:nvSpPr>
        <p:spPr>
          <a:xfrm>
            <a:off x="8418046" y="4584137"/>
            <a:ext cx="109728" cy="109728"/>
          </a:xfrm>
          <a:prstGeom prst="ellipse">
            <a:avLst/>
          </a:prstGeom>
          <a:solidFill>
            <a:srgbClr val="AC9E94"/>
          </a:solidFill>
          <a:ln w="6350">
            <a:solidFill>
              <a:srgbClr val="5A4A62"/>
            </a:solidFill>
            <a:prstDash val="solid"/>
          </a:ln>
        </p:spPr>
      </p:sp>
      <p:sp>
        <p:nvSpPr>
          <p:cNvPr id="21" name="Shape 19"/>
          <p:cNvSpPr/>
          <p:nvPr/>
        </p:nvSpPr>
        <p:spPr>
          <a:xfrm>
            <a:off x="8512369" y="4496138"/>
            <a:ext cx="109728" cy="109728"/>
          </a:xfrm>
          <a:prstGeom prst="ellipse">
            <a:avLst/>
          </a:prstGeom>
          <a:solidFill>
            <a:srgbClr val="AC9E94"/>
          </a:solidFill>
          <a:ln w="6350">
            <a:solidFill>
              <a:srgbClr val="5A4A62"/>
            </a:solidFill>
            <a:prstDash val="solid"/>
          </a:ln>
        </p:spPr>
      </p:sp>
      <p:sp>
        <p:nvSpPr>
          <p:cNvPr id="22" name="Shape 20"/>
          <p:cNvSpPr/>
          <p:nvPr/>
        </p:nvSpPr>
        <p:spPr>
          <a:xfrm>
            <a:off x="8677812" y="4441821"/>
            <a:ext cx="109728" cy="109728"/>
          </a:xfrm>
          <a:prstGeom prst="ellipse">
            <a:avLst/>
          </a:prstGeom>
          <a:solidFill>
            <a:srgbClr val="AC9E94"/>
          </a:solidFill>
          <a:ln w="6350">
            <a:solidFill>
              <a:srgbClr val="5A4A62"/>
            </a:solidFill>
            <a:prstDash val="solid"/>
          </a:ln>
        </p:spPr>
      </p:sp>
      <p:sp>
        <p:nvSpPr>
          <p:cNvPr id="23" name="Shape 21"/>
          <p:cNvSpPr/>
          <p:nvPr/>
        </p:nvSpPr>
        <p:spPr>
          <a:xfrm>
            <a:off x="8669311" y="4311939"/>
            <a:ext cx="109728" cy="109728"/>
          </a:xfrm>
          <a:prstGeom prst="ellipse">
            <a:avLst/>
          </a:prstGeom>
          <a:solidFill>
            <a:srgbClr val="AC9E94"/>
          </a:solidFill>
          <a:ln w="6350">
            <a:solidFill>
              <a:srgbClr val="5A4A62"/>
            </a:solidFill>
            <a:prstDash val="solid"/>
          </a:ln>
        </p:spPr>
      </p:sp>
      <p:sp>
        <p:nvSpPr>
          <p:cNvPr id="24" name="Shape 22"/>
          <p:cNvSpPr/>
          <p:nvPr/>
        </p:nvSpPr>
        <p:spPr>
          <a:xfrm>
            <a:off x="8820866" y="4314431"/>
            <a:ext cx="109728" cy="109728"/>
          </a:xfrm>
          <a:prstGeom prst="ellipse">
            <a:avLst/>
          </a:prstGeom>
          <a:solidFill>
            <a:srgbClr val="AC9E94"/>
          </a:solidFill>
          <a:ln w="6350">
            <a:solidFill>
              <a:srgbClr val="5A4A62"/>
            </a:solidFill>
            <a:prstDash val="solid"/>
          </a:ln>
        </p:spPr>
      </p:sp>
      <p:sp>
        <p:nvSpPr>
          <p:cNvPr id="25" name="Shape 23"/>
          <p:cNvSpPr/>
          <p:nvPr/>
        </p:nvSpPr>
        <p:spPr>
          <a:xfrm>
            <a:off x="8822024" y="4213584"/>
            <a:ext cx="109728" cy="109728"/>
          </a:xfrm>
          <a:prstGeom prst="ellipse">
            <a:avLst/>
          </a:prstGeom>
          <a:solidFill>
            <a:srgbClr val="AC9E94"/>
          </a:solidFill>
          <a:ln w="6350">
            <a:solidFill>
              <a:srgbClr val="5A4A62"/>
            </a:solidFill>
            <a:prstDash val="solid"/>
          </a:ln>
        </p:spPr>
      </p:sp>
      <p:sp>
        <p:nvSpPr>
          <p:cNvPr id="26" name="Shape 24"/>
          <p:cNvSpPr/>
          <p:nvPr/>
        </p:nvSpPr>
        <p:spPr>
          <a:xfrm>
            <a:off x="8972649" y="4124007"/>
            <a:ext cx="109728" cy="109728"/>
          </a:xfrm>
          <a:prstGeom prst="ellipse">
            <a:avLst/>
          </a:prstGeom>
          <a:solidFill>
            <a:srgbClr val="AC9E94"/>
          </a:solidFill>
          <a:ln w="6350">
            <a:solidFill>
              <a:srgbClr val="5A4A62"/>
            </a:solidFill>
            <a:prstDash val="solid"/>
          </a:ln>
        </p:spPr>
      </p:sp>
      <p:sp>
        <p:nvSpPr>
          <p:cNvPr id="27" name="Shape 25"/>
          <p:cNvSpPr/>
          <p:nvPr/>
        </p:nvSpPr>
        <p:spPr>
          <a:xfrm>
            <a:off x="8954468" y="4067998"/>
            <a:ext cx="109728" cy="109728"/>
          </a:xfrm>
          <a:prstGeom prst="ellipse">
            <a:avLst/>
          </a:prstGeom>
          <a:solidFill>
            <a:srgbClr val="AC9E94"/>
          </a:solidFill>
          <a:ln w="6350">
            <a:solidFill>
              <a:srgbClr val="5A4A62"/>
            </a:solidFill>
            <a:prstDash val="solid"/>
          </a:ln>
        </p:spPr>
      </p:sp>
      <p:sp>
        <p:nvSpPr>
          <p:cNvPr id="28" name="Shape 26"/>
          <p:cNvSpPr/>
          <p:nvPr/>
        </p:nvSpPr>
        <p:spPr>
          <a:xfrm>
            <a:off x="9154655" y="4049590"/>
            <a:ext cx="109728" cy="109728"/>
          </a:xfrm>
          <a:prstGeom prst="ellipse">
            <a:avLst/>
          </a:prstGeom>
          <a:solidFill>
            <a:srgbClr val="AC9E94"/>
          </a:solidFill>
          <a:ln w="6350">
            <a:solidFill>
              <a:srgbClr val="5A4A62"/>
            </a:solidFill>
            <a:prstDash val="solid"/>
          </a:ln>
        </p:spPr>
      </p:sp>
      <p:sp>
        <p:nvSpPr>
          <p:cNvPr id="29" name="Shape 27"/>
          <p:cNvSpPr/>
          <p:nvPr/>
        </p:nvSpPr>
        <p:spPr>
          <a:xfrm>
            <a:off x="9199518" y="3977428"/>
            <a:ext cx="109728" cy="109728"/>
          </a:xfrm>
          <a:prstGeom prst="ellipse">
            <a:avLst/>
          </a:prstGeom>
          <a:solidFill>
            <a:srgbClr val="AC9E94"/>
          </a:solidFill>
          <a:ln w="6350">
            <a:solidFill>
              <a:srgbClr val="5A4A62"/>
            </a:solidFill>
            <a:prstDash val="solid"/>
          </a:ln>
        </p:spPr>
      </p:sp>
      <p:sp>
        <p:nvSpPr>
          <p:cNvPr id="30" name="Shape 28"/>
          <p:cNvSpPr/>
          <p:nvPr/>
        </p:nvSpPr>
        <p:spPr>
          <a:xfrm>
            <a:off x="9232808" y="3898557"/>
            <a:ext cx="109728" cy="109728"/>
          </a:xfrm>
          <a:prstGeom prst="ellipse">
            <a:avLst/>
          </a:prstGeom>
          <a:solidFill>
            <a:srgbClr val="AC9E94"/>
          </a:solidFill>
          <a:ln w="6350">
            <a:solidFill>
              <a:srgbClr val="5A4A62"/>
            </a:solidFill>
            <a:prstDash val="solid"/>
          </a:ln>
        </p:spPr>
      </p:sp>
      <p:sp>
        <p:nvSpPr>
          <p:cNvPr id="31" name="Shape 29"/>
          <p:cNvSpPr/>
          <p:nvPr/>
        </p:nvSpPr>
        <p:spPr>
          <a:xfrm>
            <a:off x="9301253" y="3726734"/>
            <a:ext cx="109728" cy="109728"/>
          </a:xfrm>
          <a:prstGeom prst="ellipse">
            <a:avLst/>
          </a:prstGeom>
          <a:solidFill>
            <a:srgbClr val="AC9E94"/>
          </a:solidFill>
          <a:ln w="6350">
            <a:solidFill>
              <a:srgbClr val="5A4A62"/>
            </a:solidFill>
            <a:prstDash val="solid"/>
          </a:ln>
        </p:spPr>
      </p:sp>
      <p:sp>
        <p:nvSpPr>
          <p:cNvPr id="32" name="Shape 30"/>
          <p:cNvSpPr/>
          <p:nvPr/>
        </p:nvSpPr>
        <p:spPr>
          <a:xfrm>
            <a:off x="9431038" y="3753604"/>
            <a:ext cx="109728" cy="109728"/>
          </a:xfrm>
          <a:prstGeom prst="ellipse">
            <a:avLst/>
          </a:prstGeom>
          <a:solidFill>
            <a:srgbClr val="AC9E94"/>
          </a:solidFill>
          <a:ln w="6350">
            <a:solidFill>
              <a:srgbClr val="5A4A62"/>
            </a:solidFill>
            <a:prstDash val="solid"/>
          </a:ln>
        </p:spPr>
      </p:sp>
      <p:sp>
        <p:nvSpPr>
          <p:cNvPr id="33" name="Shape 31"/>
          <p:cNvSpPr/>
          <p:nvPr/>
        </p:nvSpPr>
        <p:spPr>
          <a:xfrm>
            <a:off x="9459725" y="3569172"/>
            <a:ext cx="109728" cy="109728"/>
          </a:xfrm>
          <a:prstGeom prst="ellipse">
            <a:avLst/>
          </a:prstGeom>
          <a:solidFill>
            <a:srgbClr val="AC9E94"/>
          </a:solidFill>
          <a:ln w="6350">
            <a:solidFill>
              <a:srgbClr val="5A4A62"/>
            </a:solidFill>
            <a:prstDash val="solid"/>
          </a:ln>
        </p:spPr>
      </p:sp>
      <p:sp>
        <p:nvSpPr>
          <p:cNvPr id="34" name="Shape 32"/>
          <p:cNvSpPr/>
          <p:nvPr/>
        </p:nvSpPr>
        <p:spPr>
          <a:xfrm>
            <a:off x="9585201" y="3498892"/>
            <a:ext cx="109728" cy="109728"/>
          </a:xfrm>
          <a:prstGeom prst="ellipse">
            <a:avLst/>
          </a:prstGeom>
          <a:solidFill>
            <a:srgbClr val="AC9E94"/>
          </a:solidFill>
          <a:ln w="6350">
            <a:solidFill>
              <a:srgbClr val="5A4A62"/>
            </a:solidFill>
            <a:prstDash val="solid"/>
          </a:ln>
        </p:spPr>
      </p:sp>
      <p:sp>
        <p:nvSpPr>
          <p:cNvPr id="35" name="Shape 33"/>
          <p:cNvSpPr/>
          <p:nvPr/>
        </p:nvSpPr>
        <p:spPr>
          <a:xfrm>
            <a:off x="9641116" y="3472359"/>
            <a:ext cx="109728" cy="109728"/>
          </a:xfrm>
          <a:prstGeom prst="ellipse">
            <a:avLst/>
          </a:prstGeom>
          <a:solidFill>
            <a:srgbClr val="AC9E94"/>
          </a:solidFill>
          <a:ln w="6350">
            <a:solidFill>
              <a:srgbClr val="5A4A62"/>
            </a:solidFill>
            <a:prstDash val="solid"/>
          </a:ln>
        </p:spPr>
      </p:sp>
      <p:sp>
        <p:nvSpPr>
          <p:cNvPr id="36" name="Shape 34"/>
          <p:cNvSpPr/>
          <p:nvPr/>
        </p:nvSpPr>
        <p:spPr>
          <a:xfrm>
            <a:off x="9680648" y="3451118"/>
            <a:ext cx="109728" cy="109728"/>
          </a:xfrm>
          <a:prstGeom prst="ellipse">
            <a:avLst/>
          </a:prstGeom>
          <a:solidFill>
            <a:srgbClr val="AC9E94"/>
          </a:solidFill>
          <a:ln w="6350">
            <a:solidFill>
              <a:srgbClr val="5A4A62"/>
            </a:solidFill>
            <a:prstDash val="solid"/>
          </a:ln>
        </p:spPr>
      </p:sp>
      <p:sp>
        <p:nvSpPr>
          <p:cNvPr id="37" name="Shape 35"/>
          <p:cNvSpPr/>
          <p:nvPr/>
        </p:nvSpPr>
        <p:spPr>
          <a:xfrm>
            <a:off x="9835566" y="3303010"/>
            <a:ext cx="109728" cy="109728"/>
          </a:xfrm>
          <a:prstGeom prst="ellipse">
            <a:avLst/>
          </a:prstGeom>
          <a:solidFill>
            <a:srgbClr val="AC9E94"/>
          </a:solidFill>
          <a:ln w="6350">
            <a:solidFill>
              <a:srgbClr val="5A4A62"/>
            </a:solidFill>
            <a:prstDash val="solid"/>
          </a:ln>
        </p:spPr>
      </p:sp>
      <p:sp>
        <p:nvSpPr>
          <p:cNvPr id="38" name="Shape 36"/>
          <p:cNvSpPr/>
          <p:nvPr/>
        </p:nvSpPr>
        <p:spPr>
          <a:xfrm>
            <a:off x="9870864" y="3221622"/>
            <a:ext cx="109728" cy="109728"/>
          </a:xfrm>
          <a:prstGeom prst="ellipse">
            <a:avLst/>
          </a:prstGeom>
          <a:solidFill>
            <a:srgbClr val="AC9E94"/>
          </a:solidFill>
          <a:ln w="6350">
            <a:solidFill>
              <a:srgbClr val="5A4A62"/>
            </a:solidFill>
            <a:prstDash val="solid"/>
          </a:ln>
        </p:spPr>
      </p:sp>
      <p:sp>
        <p:nvSpPr>
          <p:cNvPr id="39" name="Shape 37"/>
          <p:cNvSpPr/>
          <p:nvPr/>
        </p:nvSpPr>
        <p:spPr>
          <a:xfrm>
            <a:off x="9945877" y="3192796"/>
            <a:ext cx="109728" cy="109728"/>
          </a:xfrm>
          <a:prstGeom prst="ellipse">
            <a:avLst/>
          </a:prstGeom>
          <a:solidFill>
            <a:srgbClr val="AC9E94"/>
          </a:solidFill>
          <a:ln w="6350">
            <a:solidFill>
              <a:srgbClr val="5A4A62"/>
            </a:solidFill>
            <a:prstDash val="solid"/>
          </a:ln>
        </p:spPr>
      </p:sp>
      <p:sp>
        <p:nvSpPr>
          <p:cNvPr id="40" name="Shape 38"/>
          <p:cNvSpPr/>
          <p:nvPr/>
        </p:nvSpPr>
        <p:spPr>
          <a:xfrm>
            <a:off x="10102228" y="3043378"/>
            <a:ext cx="109728" cy="109728"/>
          </a:xfrm>
          <a:prstGeom prst="ellipse">
            <a:avLst/>
          </a:prstGeom>
          <a:solidFill>
            <a:srgbClr val="AC9E94"/>
          </a:solidFill>
          <a:ln w="6350">
            <a:solidFill>
              <a:srgbClr val="5A4A62"/>
            </a:solidFill>
            <a:prstDash val="solid"/>
          </a:ln>
        </p:spPr>
      </p:sp>
      <p:sp>
        <p:nvSpPr>
          <p:cNvPr id="41" name="Shape 39"/>
          <p:cNvSpPr/>
          <p:nvPr/>
        </p:nvSpPr>
        <p:spPr>
          <a:xfrm>
            <a:off x="10149163" y="3056550"/>
            <a:ext cx="109728" cy="109728"/>
          </a:xfrm>
          <a:prstGeom prst="ellipse">
            <a:avLst/>
          </a:prstGeom>
          <a:solidFill>
            <a:srgbClr val="AC9E94"/>
          </a:solidFill>
          <a:ln w="6350">
            <a:solidFill>
              <a:srgbClr val="5A4A62"/>
            </a:solidFill>
            <a:prstDash val="solid"/>
          </a:ln>
        </p:spPr>
      </p:sp>
      <p:sp>
        <p:nvSpPr>
          <p:cNvPr id="42" name="Shape 40"/>
          <p:cNvSpPr/>
          <p:nvPr/>
        </p:nvSpPr>
        <p:spPr>
          <a:xfrm rot="2700000">
            <a:off x="9180576" y="3831336"/>
            <a:ext cx="201168" cy="201168"/>
          </a:xfrm>
          <a:prstGeom prst="rect">
            <a:avLst/>
          </a:prstGeom>
          <a:solidFill>
            <a:srgbClr val="602D89"/>
          </a:solidFill>
          <a:ln w="12700">
            <a:solidFill>
              <a:srgbClr val="251230"/>
            </a:solidFill>
            <a:prstDash val="solid"/>
          </a:ln>
        </p:spPr>
      </p:sp>
      <p:sp>
        <p:nvSpPr>
          <p:cNvPr id="43" name="Text 41"/>
          <p:cNvSpPr/>
          <p:nvPr/>
        </p:nvSpPr>
        <p:spPr>
          <a:xfrm>
            <a:off x="9464040" y="3794760"/>
            <a:ext cx="822960" cy="274320"/>
          </a:xfrm>
          <a:prstGeom prst="rect">
            <a:avLst/>
          </a:prstGeom>
          <a:noFill/>
          <a:ln/>
        </p:spPr>
        <p:txBody>
          <a:bodyPr wrap="square" rtlCol="0" anchor="ctr"/>
          <a:lstStyle/>
          <a:p>
            <a:pPr indent="0" marL="0">
              <a:buNone/>
            </a:pPr>
            <a:r>
              <a:rPr lang="en-US" sz="1100" b="1" dirty="0">
                <a:solidFill>
                  <a:srgbClr val="251230"/>
                </a:solidFill>
                <a:latin typeface="Calibri" pitchFamily="34" charset="0"/>
                <a:ea typeface="Calibri" pitchFamily="34" charset="-122"/>
                <a:cs typeface="Calibri" pitchFamily="34" charset="-120"/>
              </a:rPr>
              <a:t>anchor</a:t>
            </a:r>
            <a:endParaRPr lang="en-US" sz="1100" dirty="0"/>
          </a:p>
        </p:txBody>
      </p:sp>
      <p:sp>
        <p:nvSpPr>
          <p:cNvPr id="44" name="Text 42"/>
          <p:cNvSpPr/>
          <p:nvPr/>
        </p:nvSpPr>
        <p:spPr>
          <a:xfrm>
            <a:off x="7132320" y="5577840"/>
            <a:ext cx="4297680" cy="320040"/>
          </a:xfrm>
          <a:prstGeom prst="rect">
            <a:avLst/>
          </a:prstGeom>
          <a:noFill/>
          <a:ln/>
        </p:spPr>
        <p:txBody>
          <a:bodyPr wrap="square" rtlCol="0" anchor="ctr"/>
          <a:lstStyle/>
          <a:p>
            <a:pPr algn="ctr" indent="0" marL="0">
              <a:buNone/>
            </a:pPr>
            <a:r>
              <a:rPr lang="en-US" sz="1200" i="1" dirty="0">
                <a:solidFill>
                  <a:srgbClr val="5A4A62"/>
                </a:solidFill>
                <a:latin typeface="Calibri" pitchFamily="34" charset="0"/>
                <a:ea typeface="Calibri" pitchFamily="34" charset="-122"/>
                <a:cs typeface="Calibri" pitchFamily="34" charset="-120"/>
              </a:rPr>
              <a:t>nearest peers = closest points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11247120" cy="640080"/>
          </a:xfrm>
          <a:prstGeom prst="rect">
            <a:avLst/>
          </a:prstGeom>
          <a:noFill/>
          <a:ln/>
        </p:spPr>
        <p:txBody>
          <a:bodyPr wrap="square" rtlCol="0" anchor="ctr"/>
          <a:lstStyle/>
          <a:p>
            <a:pPr indent="0" marL="0">
              <a:buNone/>
            </a:pPr>
            <a:r>
              <a:rPr lang="en-US" sz="3200" b="1" dirty="0">
                <a:solidFill>
                  <a:srgbClr val="251230"/>
                </a:solidFill>
                <a:latin typeface="Cambria" pitchFamily="34" charset="0"/>
                <a:ea typeface="Cambria" pitchFamily="34" charset="-122"/>
                <a:cs typeface="Cambria" pitchFamily="34" charset="-120"/>
              </a:rPr>
              <a:t>Two ways to measure "distance"</a:t>
            </a:r>
            <a:endParaRPr lang="en-US" sz="3200" dirty="0"/>
          </a:p>
        </p:txBody>
      </p:sp>
      <p:sp>
        <p:nvSpPr>
          <p:cNvPr id="3" name="Text 1"/>
          <p:cNvSpPr/>
          <p:nvPr/>
        </p:nvSpPr>
        <p:spPr>
          <a:xfrm>
            <a:off x="457200" y="1005840"/>
            <a:ext cx="11247120" cy="365760"/>
          </a:xfrm>
          <a:prstGeom prst="rect">
            <a:avLst/>
          </a:prstGeom>
          <a:noFill/>
          <a:ln/>
        </p:spPr>
        <p:txBody>
          <a:bodyPr wrap="square" rtlCol="0" anchor="ctr"/>
          <a:lstStyle/>
          <a:p>
            <a:pPr indent="0" marL="0">
              <a:buNone/>
            </a:pPr>
            <a:r>
              <a:rPr lang="en-US" sz="1400" i="1" dirty="0">
                <a:solidFill>
                  <a:srgbClr val="5A4A62"/>
                </a:solidFill>
                <a:latin typeface="Calibri" pitchFamily="34" charset="0"/>
                <a:ea typeface="Calibri" pitchFamily="34" charset="-122"/>
                <a:cs typeface="Calibri" pitchFamily="34" charset="-120"/>
              </a:rPr>
              <a:t>Same data, same anchor — different definitions of "close" surface different peers.</a:t>
            </a:r>
            <a:endParaRPr lang="en-US" sz="1400" dirty="0"/>
          </a:p>
        </p:txBody>
      </p:sp>
      <p:sp>
        <p:nvSpPr>
          <p:cNvPr id="4" name="Shape 2"/>
          <p:cNvSpPr/>
          <p:nvPr/>
        </p:nvSpPr>
        <p:spPr>
          <a:xfrm>
            <a:off x="594360" y="1234440"/>
            <a:ext cx="5303520" cy="365760"/>
          </a:xfrm>
          <a:prstGeom prst="rect">
            <a:avLst/>
          </a:prstGeom>
          <a:solidFill>
            <a:srgbClr val="602D89"/>
          </a:solidFill>
          <a:ln/>
        </p:spPr>
      </p:sp>
      <p:sp>
        <p:nvSpPr>
          <p:cNvPr id="5" name="Text 3"/>
          <p:cNvSpPr/>
          <p:nvPr/>
        </p:nvSpPr>
        <p:spPr>
          <a:xfrm>
            <a:off x="594360" y="1234440"/>
            <a:ext cx="53035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EUCLIDEAN — straight-line distance</a:t>
            </a:r>
            <a:endParaRPr lang="en-US" sz="1400" dirty="0"/>
          </a:p>
        </p:txBody>
      </p:sp>
      <p:sp>
        <p:nvSpPr>
          <p:cNvPr id="6" name="Shape 4"/>
          <p:cNvSpPr/>
          <p:nvPr/>
        </p:nvSpPr>
        <p:spPr>
          <a:xfrm>
            <a:off x="6263640" y="1234440"/>
            <a:ext cx="5303520" cy="365760"/>
          </a:xfrm>
          <a:prstGeom prst="rect">
            <a:avLst/>
          </a:prstGeom>
          <a:solidFill>
            <a:srgbClr val="EA580C"/>
          </a:solidFill>
          <a:ln/>
        </p:spPr>
      </p:sp>
      <p:sp>
        <p:nvSpPr>
          <p:cNvPr id="7" name="Text 5"/>
          <p:cNvSpPr/>
          <p:nvPr/>
        </p:nvSpPr>
        <p:spPr>
          <a:xfrm>
            <a:off x="6263640" y="1234440"/>
            <a:ext cx="53035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MAHALANOBIS — pattern-aware distance</a:t>
            </a:r>
            <a:endParaRPr lang="en-US" sz="1400" dirty="0"/>
          </a:p>
        </p:txBody>
      </p:sp>
      <p:sp>
        <p:nvSpPr>
          <p:cNvPr id="8" name="Shape 6"/>
          <p:cNvSpPr/>
          <p:nvPr/>
        </p:nvSpPr>
        <p:spPr>
          <a:xfrm>
            <a:off x="594360" y="1600200"/>
            <a:ext cx="5303520" cy="4114800"/>
          </a:xfrm>
          <a:prstGeom prst="rect">
            <a:avLst/>
          </a:prstGeom>
          <a:solidFill>
            <a:srgbClr val="FFFFFF"/>
          </a:solidFill>
          <a:ln w="6350">
            <a:solidFill>
              <a:srgbClr val="AC9E94"/>
            </a:solidFill>
            <a:prstDash val="solid"/>
          </a:ln>
        </p:spPr>
      </p:sp>
      <p:sp>
        <p:nvSpPr>
          <p:cNvPr id="9" name="Shape 7"/>
          <p:cNvSpPr/>
          <p:nvPr/>
        </p:nvSpPr>
        <p:spPr>
          <a:xfrm>
            <a:off x="2022035" y="4531898"/>
            <a:ext cx="109728" cy="109728"/>
          </a:xfrm>
          <a:prstGeom prst="ellipse">
            <a:avLst/>
          </a:prstGeom>
          <a:solidFill>
            <a:srgbClr val="AC9E94"/>
          </a:solidFill>
          <a:ln w="6350">
            <a:solidFill>
              <a:srgbClr val="5A4A62"/>
            </a:solidFill>
            <a:prstDash val="solid"/>
          </a:ln>
        </p:spPr>
      </p:sp>
      <p:sp>
        <p:nvSpPr>
          <p:cNvPr id="10" name="Shape 8"/>
          <p:cNvSpPr/>
          <p:nvPr/>
        </p:nvSpPr>
        <p:spPr>
          <a:xfrm>
            <a:off x="2171997" y="4419857"/>
            <a:ext cx="109728" cy="109728"/>
          </a:xfrm>
          <a:prstGeom prst="ellipse">
            <a:avLst/>
          </a:prstGeom>
          <a:solidFill>
            <a:srgbClr val="AC9E94"/>
          </a:solidFill>
          <a:ln w="6350">
            <a:solidFill>
              <a:srgbClr val="5A4A62"/>
            </a:solidFill>
            <a:prstDash val="solid"/>
          </a:ln>
        </p:spPr>
      </p:sp>
      <p:sp>
        <p:nvSpPr>
          <p:cNvPr id="11" name="Shape 9"/>
          <p:cNvSpPr/>
          <p:nvPr/>
        </p:nvSpPr>
        <p:spPr>
          <a:xfrm>
            <a:off x="2149512" y="4360323"/>
            <a:ext cx="109728" cy="109728"/>
          </a:xfrm>
          <a:prstGeom prst="ellipse">
            <a:avLst/>
          </a:prstGeom>
          <a:solidFill>
            <a:srgbClr val="AC9E94"/>
          </a:solidFill>
          <a:ln w="6350">
            <a:solidFill>
              <a:srgbClr val="5A4A62"/>
            </a:solidFill>
            <a:prstDash val="solid"/>
          </a:ln>
        </p:spPr>
      </p:sp>
      <p:sp>
        <p:nvSpPr>
          <p:cNvPr id="12" name="Shape 10"/>
          <p:cNvSpPr/>
          <p:nvPr/>
        </p:nvSpPr>
        <p:spPr>
          <a:xfrm>
            <a:off x="2271083" y="4266038"/>
            <a:ext cx="109728" cy="109728"/>
          </a:xfrm>
          <a:prstGeom prst="ellipse">
            <a:avLst/>
          </a:prstGeom>
          <a:solidFill>
            <a:srgbClr val="AC9E94"/>
          </a:solidFill>
          <a:ln w="6350">
            <a:solidFill>
              <a:srgbClr val="5A4A62"/>
            </a:solidFill>
            <a:prstDash val="solid"/>
          </a:ln>
        </p:spPr>
      </p:sp>
      <p:sp>
        <p:nvSpPr>
          <p:cNvPr id="13" name="Shape 11"/>
          <p:cNvSpPr/>
          <p:nvPr/>
        </p:nvSpPr>
        <p:spPr>
          <a:xfrm>
            <a:off x="2484321" y="4207841"/>
            <a:ext cx="109728" cy="109728"/>
          </a:xfrm>
          <a:prstGeom prst="ellipse">
            <a:avLst/>
          </a:prstGeom>
          <a:solidFill>
            <a:srgbClr val="AC9E94"/>
          </a:solidFill>
          <a:ln w="6350">
            <a:solidFill>
              <a:srgbClr val="5A4A62"/>
            </a:solidFill>
            <a:prstDash val="solid"/>
          </a:ln>
        </p:spPr>
      </p:sp>
      <p:sp>
        <p:nvSpPr>
          <p:cNvPr id="14" name="Shape 12"/>
          <p:cNvSpPr/>
          <p:nvPr/>
        </p:nvSpPr>
        <p:spPr>
          <a:xfrm>
            <a:off x="2473364" y="4068682"/>
            <a:ext cx="109728" cy="109728"/>
          </a:xfrm>
          <a:prstGeom prst="ellipse">
            <a:avLst/>
          </a:prstGeom>
          <a:solidFill>
            <a:srgbClr val="AC9E94"/>
          </a:solidFill>
          <a:ln w="6350">
            <a:solidFill>
              <a:srgbClr val="5A4A62"/>
            </a:solidFill>
            <a:prstDash val="solid"/>
          </a:ln>
        </p:spPr>
      </p:sp>
      <p:sp>
        <p:nvSpPr>
          <p:cNvPr id="15" name="Shape 13"/>
          <p:cNvSpPr/>
          <p:nvPr/>
        </p:nvSpPr>
        <p:spPr>
          <a:xfrm>
            <a:off x="2668702" y="4071352"/>
            <a:ext cx="109728" cy="109728"/>
          </a:xfrm>
          <a:prstGeom prst="ellipse">
            <a:avLst/>
          </a:prstGeom>
          <a:solidFill>
            <a:srgbClr val="AC9E94"/>
          </a:solidFill>
          <a:ln w="6350">
            <a:solidFill>
              <a:srgbClr val="5A4A62"/>
            </a:solidFill>
            <a:prstDash val="solid"/>
          </a:ln>
        </p:spPr>
      </p:sp>
      <p:sp>
        <p:nvSpPr>
          <p:cNvPr id="16" name="Shape 14"/>
          <p:cNvSpPr/>
          <p:nvPr/>
        </p:nvSpPr>
        <p:spPr>
          <a:xfrm>
            <a:off x="2670194" y="3963302"/>
            <a:ext cx="109728" cy="109728"/>
          </a:xfrm>
          <a:prstGeom prst="ellipse">
            <a:avLst/>
          </a:prstGeom>
          <a:solidFill>
            <a:srgbClr val="AC9E94"/>
          </a:solidFill>
          <a:ln w="6350">
            <a:solidFill>
              <a:srgbClr val="5A4A62"/>
            </a:solidFill>
            <a:prstDash val="solid"/>
          </a:ln>
        </p:spPr>
      </p:sp>
      <p:sp>
        <p:nvSpPr>
          <p:cNvPr id="17" name="Shape 15"/>
          <p:cNvSpPr/>
          <p:nvPr/>
        </p:nvSpPr>
        <p:spPr>
          <a:xfrm>
            <a:off x="2864334" y="3867327"/>
            <a:ext cx="109728" cy="109728"/>
          </a:xfrm>
          <a:prstGeom prst="ellipse">
            <a:avLst/>
          </a:prstGeom>
          <a:solidFill>
            <a:srgbClr val="AC9E94"/>
          </a:solidFill>
          <a:ln w="6350">
            <a:solidFill>
              <a:srgbClr val="5A4A62"/>
            </a:solidFill>
            <a:prstDash val="solid"/>
          </a:ln>
        </p:spPr>
      </p:sp>
      <p:sp>
        <p:nvSpPr>
          <p:cNvPr id="18" name="Shape 16"/>
          <p:cNvSpPr/>
          <p:nvPr/>
        </p:nvSpPr>
        <p:spPr>
          <a:xfrm>
            <a:off x="2840899" y="3807317"/>
            <a:ext cx="109728" cy="109728"/>
          </a:xfrm>
          <a:prstGeom prst="ellipse">
            <a:avLst/>
          </a:prstGeom>
          <a:solidFill>
            <a:srgbClr val="AC9E94"/>
          </a:solidFill>
          <a:ln w="6350">
            <a:solidFill>
              <a:srgbClr val="5A4A62"/>
            </a:solidFill>
            <a:prstDash val="solid"/>
          </a:ln>
        </p:spPr>
      </p:sp>
      <p:sp>
        <p:nvSpPr>
          <p:cNvPr id="19" name="Shape 17"/>
          <p:cNvSpPr/>
          <p:nvPr/>
        </p:nvSpPr>
        <p:spPr>
          <a:xfrm>
            <a:off x="3098919" y="3787594"/>
            <a:ext cx="109728" cy="109728"/>
          </a:xfrm>
          <a:prstGeom prst="ellipse">
            <a:avLst/>
          </a:prstGeom>
          <a:solidFill>
            <a:srgbClr val="AC9E94"/>
          </a:solidFill>
          <a:ln w="6350">
            <a:solidFill>
              <a:srgbClr val="5A4A62"/>
            </a:solidFill>
            <a:prstDash val="solid"/>
          </a:ln>
        </p:spPr>
      </p:sp>
      <p:sp>
        <p:nvSpPr>
          <p:cNvPr id="20" name="Shape 18"/>
          <p:cNvSpPr/>
          <p:nvPr/>
        </p:nvSpPr>
        <p:spPr>
          <a:xfrm>
            <a:off x="3156742" y="3710278"/>
            <a:ext cx="109728" cy="109728"/>
          </a:xfrm>
          <a:prstGeom prst="ellipse">
            <a:avLst/>
          </a:prstGeom>
          <a:solidFill>
            <a:srgbClr val="AC9E94"/>
          </a:solidFill>
          <a:ln w="6350">
            <a:solidFill>
              <a:srgbClr val="5A4A62"/>
            </a:solidFill>
            <a:prstDash val="solid"/>
          </a:ln>
        </p:spPr>
      </p:sp>
      <p:sp>
        <p:nvSpPr>
          <p:cNvPr id="21" name="Shape 19"/>
          <p:cNvSpPr/>
          <p:nvPr/>
        </p:nvSpPr>
        <p:spPr>
          <a:xfrm>
            <a:off x="3199649" y="3625773"/>
            <a:ext cx="109728" cy="109728"/>
          </a:xfrm>
          <a:prstGeom prst="ellipse">
            <a:avLst/>
          </a:prstGeom>
          <a:solidFill>
            <a:srgbClr val="AC9E94"/>
          </a:solidFill>
          <a:ln w="6350">
            <a:solidFill>
              <a:srgbClr val="5A4A62"/>
            </a:solidFill>
            <a:prstDash val="solid"/>
          </a:ln>
        </p:spPr>
      </p:sp>
      <p:sp>
        <p:nvSpPr>
          <p:cNvPr id="22" name="Shape 20"/>
          <p:cNvSpPr/>
          <p:nvPr/>
        </p:nvSpPr>
        <p:spPr>
          <a:xfrm>
            <a:off x="3287868" y="3441676"/>
            <a:ext cx="109728" cy="109728"/>
          </a:xfrm>
          <a:prstGeom prst="ellipse">
            <a:avLst/>
          </a:prstGeom>
          <a:solidFill>
            <a:srgbClr val="AC9E94"/>
          </a:solidFill>
          <a:ln w="6350">
            <a:solidFill>
              <a:srgbClr val="5A4A62"/>
            </a:solidFill>
            <a:prstDash val="solid"/>
          </a:ln>
        </p:spPr>
      </p:sp>
      <p:sp>
        <p:nvSpPr>
          <p:cNvPr id="23" name="Shape 21"/>
          <p:cNvSpPr/>
          <p:nvPr/>
        </p:nvSpPr>
        <p:spPr>
          <a:xfrm>
            <a:off x="3455145" y="3470466"/>
            <a:ext cx="109728" cy="109728"/>
          </a:xfrm>
          <a:prstGeom prst="ellipse">
            <a:avLst/>
          </a:prstGeom>
          <a:solidFill>
            <a:srgbClr val="AC9E94"/>
          </a:solidFill>
          <a:ln w="6350">
            <a:solidFill>
              <a:srgbClr val="5A4A62"/>
            </a:solidFill>
            <a:prstDash val="solid"/>
          </a:ln>
        </p:spPr>
      </p:sp>
      <p:sp>
        <p:nvSpPr>
          <p:cNvPr id="24" name="Shape 22"/>
          <p:cNvSpPr/>
          <p:nvPr/>
        </p:nvSpPr>
        <p:spPr>
          <a:xfrm>
            <a:off x="3492120" y="3272861"/>
            <a:ext cx="109728" cy="109728"/>
          </a:xfrm>
          <a:prstGeom prst="ellipse">
            <a:avLst/>
          </a:prstGeom>
          <a:solidFill>
            <a:srgbClr val="AC9E94"/>
          </a:solidFill>
          <a:ln w="6350">
            <a:solidFill>
              <a:srgbClr val="5A4A62"/>
            </a:solidFill>
            <a:prstDash val="solid"/>
          </a:ln>
        </p:spPr>
      </p:sp>
      <p:sp>
        <p:nvSpPr>
          <p:cNvPr id="25" name="Shape 23"/>
          <p:cNvSpPr/>
          <p:nvPr/>
        </p:nvSpPr>
        <p:spPr>
          <a:xfrm>
            <a:off x="3653845" y="3197560"/>
            <a:ext cx="109728" cy="109728"/>
          </a:xfrm>
          <a:prstGeom prst="ellipse">
            <a:avLst/>
          </a:prstGeom>
          <a:solidFill>
            <a:srgbClr val="AC9E94"/>
          </a:solidFill>
          <a:ln w="6350">
            <a:solidFill>
              <a:srgbClr val="5A4A62"/>
            </a:solidFill>
            <a:prstDash val="solid"/>
          </a:ln>
        </p:spPr>
      </p:sp>
      <p:sp>
        <p:nvSpPr>
          <p:cNvPr id="26" name="Shape 24"/>
          <p:cNvSpPr/>
          <p:nvPr/>
        </p:nvSpPr>
        <p:spPr>
          <a:xfrm>
            <a:off x="3725912" y="3169132"/>
            <a:ext cx="109728" cy="109728"/>
          </a:xfrm>
          <a:prstGeom prst="ellipse">
            <a:avLst/>
          </a:prstGeom>
          <a:solidFill>
            <a:srgbClr val="AC9E94"/>
          </a:solidFill>
          <a:ln w="6350">
            <a:solidFill>
              <a:srgbClr val="5A4A62"/>
            </a:solidFill>
            <a:prstDash val="solid"/>
          </a:ln>
        </p:spPr>
      </p:sp>
      <p:sp>
        <p:nvSpPr>
          <p:cNvPr id="27" name="Shape 25"/>
          <p:cNvSpPr/>
          <p:nvPr/>
        </p:nvSpPr>
        <p:spPr>
          <a:xfrm>
            <a:off x="3776866" y="3146374"/>
            <a:ext cx="109728" cy="109728"/>
          </a:xfrm>
          <a:prstGeom prst="ellipse">
            <a:avLst/>
          </a:prstGeom>
          <a:solidFill>
            <a:srgbClr val="AC9E94"/>
          </a:solidFill>
          <a:ln w="6350">
            <a:solidFill>
              <a:srgbClr val="5A4A62"/>
            </a:solidFill>
            <a:prstDash val="solid"/>
          </a:ln>
        </p:spPr>
      </p:sp>
      <p:sp>
        <p:nvSpPr>
          <p:cNvPr id="28" name="Shape 26"/>
          <p:cNvSpPr/>
          <p:nvPr/>
        </p:nvSpPr>
        <p:spPr>
          <a:xfrm>
            <a:off x="3976537" y="2987687"/>
            <a:ext cx="109728" cy="109728"/>
          </a:xfrm>
          <a:prstGeom prst="ellipse">
            <a:avLst/>
          </a:prstGeom>
          <a:solidFill>
            <a:srgbClr val="AC9E94"/>
          </a:solidFill>
          <a:ln w="6350">
            <a:solidFill>
              <a:srgbClr val="5A4A62"/>
            </a:solidFill>
            <a:prstDash val="solid"/>
          </a:ln>
        </p:spPr>
      </p:sp>
      <p:sp>
        <p:nvSpPr>
          <p:cNvPr id="29" name="Shape 27"/>
          <p:cNvSpPr/>
          <p:nvPr/>
        </p:nvSpPr>
        <p:spPr>
          <a:xfrm>
            <a:off x="4022033" y="2900486"/>
            <a:ext cx="109728" cy="109728"/>
          </a:xfrm>
          <a:prstGeom prst="ellipse">
            <a:avLst/>
          </a:prstGeom>
          <a:solidFill>
            <a:srgbClr val="AC9E94"/>
          </a:solidFill>
          <a:ln w="6350">
            <a:solidFill>
              <a:srgbClr val="5A4A62"/>
            </a:solidFill>
            <a:prstDash val="solid"/>
          </a:ln>
        </p:spPr>
      </p:sp>
      <p:sp>
        <p:nvSpPr>
          <p:cNvPr id="30" name="Shape 28"/>
          <p:cNvSpPr/>
          <p:nvPr/>
        </p:nvSpPr>
        <p:spPr>
          <a:xfrm>
            <a:off x="4118716" y="2869600"/>
            <a:ext cx="109728" cy="109728"/>
          </a:xfrm>
          <a:prstGeom prst="ellipse">
            <a:avLst/>
          </a:prstGeom>
          <a:solidFill>
            <a:srgbClr val="AC9E94"/>
          </a:solidFill>
          <a:ln w="6350">
            <a:solidFill>
              <a:srgbClr val="5A4A62"/>
            </a:solidFill>
            <a:prstDash val="solid"/>
          </a:ln>
        </p:spPr>
      </p:sp>
      <p:sp>
        <p:nvSpPr>
          <p:cNvPr id="31" name="Shape 29"/>
          <p:cNvSpPr/>
          <p:nvPr/>
        </p:nvSpPr>
        <p:spPr>
          <a:xfrm>
            <a:off x="4320235" y="2709509"/>
            <a:ext cx="109728" cy="109728"/>
          </a:xfrm>
          <a:prstGeom prst="ellipse">
            <a:avLst/>
          </a:prstGeom>
          <a:solidFill>
            <a:srgbClr val="AC9E94"/>
          </a:solidFill>
          <a:ln w="6350">
            <a:solidFill>
              <a:srgbClr val="5A4A62"/>
            </a:solidFill>
            <a:prstDash val="solid"/>
          </a:ln>
        </p:spPr>
      </p:sp>
      <p:sp>
        <p:nvSpPr>
          <p:cNvPr id="32" name="Shape 30"/>
          <p:cNvSpPr/>
          <p:nvPr/>
        </p:nvSpPr>
        <p:spPr>
          <a:xfrm>
            <a:off x="4380729" y="2723623"/>
            <a:ext cx="109728" cy="109728"/>
          </a:xfrm>
          <a:prstGeom prst="ellipse">
            <a:avLst/>
          </a:prstGeom>
          <a:solidFill>
            <a:srgbClr val="AC9E94"/>
          </a:solidFill>
          <a:ln w="6350">
            <a:solidFill>
              <a:srgbClr val="5A4A62"/>
            </a:solidFill>
            <a:prstDash val="solid"/>
          </a:ln>
        </p:spPr>
      </p:sp>
      <p:sp>
        <p:nvSpPr>
          <p:cNvPr id="33" name="Shape 31"/>
          <p:cNvSpPr/>
          <p:nvPr/>
        </p:nvSpPr>
        <p:spPr>
          <a:xfrm rot="2700000">
            <a:off x="3145536" y="3557016"/>
            <a:ext cx="201168" cy="201168"/>
          </a:xfrm>
          <a:prstGeom prst="rect">
            <a:avLst/>
          </a:prstGeom>
          <a:solidFill>
            <a:srgbClr val="602D89"/>
          </a:solidFill>
          <a:ln w="12700">
            <a:solidFill>
              <a:srgbClr val="251230"/>
            </a:solidFill>
            <a:prstDash val="solid"/>
          </a:ln>
        </p:spPr>
      </p:sp>
      <p:sp>
        <p:nvSpPr>
          <p:cNvPr id="34" name="Shape 32"/>
          <p:cNvSpPr/>
          <p:nvPr/>
        </p:nvSpPr>
        <p:spPr>
          <a:xfrm>
            <a:off x="2743200" y="3154680"/>
            <a:ext cx="1005840" cy="1005840"/>
          </a:xfrm>
          <a:prstGeom prst="ellipse">
            <a:avLst/>
          </a:prstGeom>
          <a:solidFill>
            <a:srgbClr val="602D89">
              <a:alpha val="0"/>
            </a:srgbClr>
          </a:solidFill>
          <a:ln w="22225">
            <a:solidFill>
              <a:srgbClr val="602D89"/>
            </a:solidFill>
            <a:prstDash val="solid"/>
          </a:ln>
        </p:spPr>
      </p:sp>
      <p:sp>
        <p:nvSpPr>
          <p:cNvPr id="35" name="Shape 33"/>
          <p:cNvSpPr/>
          <p:nvPr/>
        </p:nvSpPr>
        <p:spPr>
          <a:xfrm>
            <a:off x="2286000" y="2697480"/>
            <a:ext cx="1920240" cy="1920240"/>
          </a:xfrm>
          <a:prstGeom prst="ellipse">
            <a:avLst/>
          </a:prstGeom>
          <a:solidFill>
            <a:srgbClr val="602D89">
              <a:alpha val="0"/>
            </a:srgbClr>
          </a:solidFill>
          <a:ln w="22225">
            <a:solidFill>
              <a:srgbClr val="602D89"/>
            </a:solidFill>
            <a:prstDash val="dash"/>
          </a:ln>
        </p:spPr>
      </p:sp>
      <p:sp>
        <p:nvSpPr>
          <p:cNvPr id="36" name="Shape 34"/>
          <p:cNvSpPr/>
          <p:nvPr/>
        </p:nvSpPr>
        <p:spPr>
          <a:xfrm>
            <a:off x="1828800" y="2240280"/>
            <a:ext cx="2834640" cy="2834640"/>
          </a:xfrm>
          <a:prstGeom prst="ellipse">
            <a:avLst/>
          </a:prstGeom>
          <a:solidFill>
            <a:srgbClr val="602D89">
              <a:alpha val="0"/>
            </a:srgbClr>
          </a:solidFill>
          <a:ln w="22225">
            <a:solidFill>
              <a:srgbClr val="602D89"/>
            </a:solidFill>
            <a:prstDash val="dash"/>
          </a:ln>
        </p:spPr>
      </p:sp>
      <p:sp>
        <p:nvSpPr>
          <p:cNvPr id="37" name="Shape 35"/>
          <p:cNvSpPr/>
          <p:nvPr/>
        </p:nvSpPr>
        <p:spPr>
          <a:xfrm>
            <a:off x="3065302" y="3618838"/>
            <a:ext cx="292608" cy="292608"/>
          </a:xfrm>
          <a:prstGeom prst="ellipse">
            <a:avLst/>
          </a:prstGeom>
          <a:solidFill>
            <a:srgbClr val="FFFFFF">
              <a:alpha val="0"/>
            </a:srgbClr>
          </a:solidFill>
          <a:ln w="31750">
            <a:solidFill>
              <a:srgbClr val="602D89"/>
            </a:solidFill>
            <a:prstDash val="solid"/>
          </a:ln>
        </p:spPr>
      </p:sp>
      <p:sp>
        <p:nvSpPr>
          <p:cNvPr id="38" name="Shape 36"/>
          <p:cNvSpPr/>
          <p:nvPr/>
        </p:nvSpPr>
        <p:spPr>
          <a:xfrm>
            <a:off x="3108209" y="3534333"/>
            <a:ext cx="292608" cy="292608"/>
          </a:xfrm>
          <a:prstGeom prst="ellipse">
            <a:avLst/>
          </a:prstGeom>
          <a:solidFill>
            <a:srgbClr val="FFFFFF">
              <a:alpha val="0"/>
            </a:srgbClr>
          </a:solidFill>
          <a:ln w="31750">
            <a:solidFill>
              <a:srgbClr val="602D89"/>
            </a:solidFill>
            <a:prstDash val="solid"/>
          </a:ln>
        </p:spPr>
      </p:sp>
      <p:sp>
        <p:nvSpPr>
          <p:cNvPr id="39" name="Shape 37"/>
          <p:cNvSpPr/>
          <p:nvPr/>
        </p:nvSpPr>
        <p:spPr>
          <a:xfrm>
            <a:off x="3196428" y="3350236"/>
            <a:ext cx="292608" cy="292608"/>
          </a:xfrm>
          <a:prstGeom prst="ellipse">
            <a:avLst/>
          </a:prstGeom>
          <a:solidFill>
            <a:srgbClr val="FFFFFF">
              <a:alpha val="0"/>
            </a:srgbClr>
          </a:solidFill>
          <a:ln w="31750">
            <a:solidFill>
              <a:srgbClr val="602D89"/>
            </a:solidFill>
            <a:prstDash val="solid"/>
          </a:ln>
        </p:spPr>
      </p:sp>
      <p:sp>
        <p:nvSpPr>
          <p:cNvPr id="40" name="Shape 38"/>
          <p:cNvSpPr/>
          <p:nvPr/>
        </p:nvSpPr>
        <p:spPr>
          <a:xfrm>
            <a:off x="3007479" y="3696154"/>
            <a:ext cx="292608" cy="292608"/>
          </a:xfrm>
          <a:prstGeom prst="ellipse">
            <a:avLst/>
          </a:prstGeom>
          <a:solidFill>
            <a:srgbClr val="FFFFFF">
              <a:alpha val="0"/>
            </a:srgbClr>
          </a:solidFill>
          <a:ln w="31750">
            <a:solidFill>
              <a:srgbClr val="602D89"/>
            </a:solidFill>
            <a:prstDash val="solid"/>
          </a:ln>
        </p:spPr>
      </p:sp>
      <p:sp>
        <p:nvSpPr>
          <p:cNvPr id="41" name="Shape 39"/>
          <p:cNvSpPr/>
          <p:nvPr/>
        </p:nvSpPr>
        <p:spPr>
          <a:xfrm>
            <a:off x="6263640" y="1600200"/>
            <a:ext cx="5303520" cy="4114800"/>
          </a:xfrm>
          <a:prstGeom prst="rect">
            <a:avLst/>
          </a:prstGeom>
          <a:solidFill>
            <a:srgbClr val="FFFFFF"/>
          </a:solidFill>
          <a:ln w="6350">
            <a:solidFill>
              <a:srgbClr val="AC9E94"/>
            </a:solidFill>
            <a:prstDash val="solid"/>
          </a:ln>
        </p:spPr>
      </p:sp>
      <p:sp>
        <p:nvSpPr>
          <p:cNvPr id="42" name="Shape 40"/>
          <p:cNvSpPr/>
          <p:nvPr/>
        </p:nvSpPr>
        <p:spPr>
          <a:xfrm>
            <a:off x="7691315" y="4531898"/>
            <a:ext cx="109728" cy="109728"/>
          </a:xfrm>
          <a:prstGeom prst="ellipse">
            <a:avLst/>
          </a:prstGeom>
          <a:solidFill>
            <a:srgbClr val="AC9E94"/>
          </a:solidFill>
          <a:ln w="6350">
            <a:solidFill>
              <a:srgbClr val="5A4A62"/>
            </a:solidFill>
            <a:prstDash val="solid"/>
          </a:ln>
        </p:spPr>
      </p:sp>
      <p:sp>
        <p:nvSpPr>
          <p:cNvPr id="43" name="Shape 41"/>
          <p:cNvSpPr/>
          <p:nvPr/>
        </p:nvSpPr>
        <p:spPr>
          <a:xfrm>
            <a:off x="7841277" y="4419857"/>
            <a:ext cx="109728" cy="109728"/>
          </a:xfrm>
          <a:prstGeom prst="ellipse">
            <a:avLst/>
          </a:prstGeom>
          <a:solidFill>
            <a:srgbClr val="AC9E94"/>
          </a:solidFill>
          <a:ln w="6350">
            <a:solidFill>
              <a:srgbClr val="5A4A62"/>
            </a:solidFill>
            <a:prstDash val="solid"/>
          </a:ln>
        </p:spPr>
      </p:sp>
      <p:sp>
        <p:nvSpPr>
          <p:cNvPr id="44" name="Shape 42"/>
          <p:cNvSpPr/>
          <p:nvPr/>
        </p:nvSpPr>
        <p:spPr>
          <a:xfrm>
            <a:off x="7818792" y="4360323"/>
            <a:ext cx="109728" cy="109728"/>
          </a:xfrm>
          <a:prstGeom prst="ellipse">
            <a:avLst/>
          </a:prstGeom>
          <a:solidFill>
            <a:srgbClr val="AC9E94"/>
          </a:solidFill>
          <a:ln w="6350">
            <a:solidFill>
              <a:srgbClr val="5A4A62"/>
            </a:solidFill>
            <a:prstDash val="solid"/>
          </a:ln>
        </p:spPr>
      </p:sp>
      <p:sp>
        <p:nvSpPr>
          <p:cNvPr id="45" name="Shape 43"/>
          <p:cNvSpPr/>
          <p:nvPr/>
        </p:nvSpPr>
        <p:spPr>
          <a:xfrm>
            <a:off x="7940363" y="4266038"/>
            <a:ext cx="109728" cy="109728"/>
          </a:xfrm>
          <a:prstGeom prst="ellipse">
            <a:avLst/>
          </a:prstGeom>
          <a:solidFill>
            <a:srgbClr val="AC9E94"/>
          </a:solidFill>
          <a:ln w="6350">
            <a:solidFill>
              <a:srgbClr val="5A4A62"/>
            </a:solidFill>
            <a:prstDash val="solid"/>
          </a:ln>
        </p:spPr>
      </p:sp>
      <p:sp>
        <p:nvSpPr>
          <p:cNvPr id="46" name="Shape 44"/>
          <p:cNvSpPr/>
          <p:nvPr/>
        </p:nvSpPr>
        <p:spPr>
          <a:xfrm>
            <a:off x="8153601" y="4207841"/>
            <a:ext cx="109728" cy="109728"/>
          </a:xfrm>
          <a:prstGeom prst="ellipse">
            <a:avLst/>
          </a:prstGeom>
          <a:solidFill>
            <a:srgbClr val="AC9E94"/>
          </a:solidFill>
          <a:ln w="6350">
            <a:solidFill>
              <a:srgbClr val="5A4A62"/>
            </a:solidFill>
            <a:prstDash val="solid"/>
          </a:ln>
        </p:spPr>
      </p:sp>
      <p:sp>
        <p:nvSpPr>
          <p:cNvPr id="47" name="Shape 45"/>
          <p:cNvSpPr/>
          <p:nvPr/>
        </p:nvSpPr>
        <p:spPr>
          <a:xfrm>
            <a:off x="8142644" y="4068682"/>
            <a:ext cx="109728" cy="109728"/>
          </a:xfrm>
          <a:prstGeom prst="ellipse">
            <a:avLst/>
          </a:prstGeom>
          <a:solidFill>
            <a:srgbClr val="AC9E94"/>
          </a:solidFill>
          <a:ln w="6350">
            <a:solidFill>
              <a:srgbClr val="5A4A62"/>
            </a:solidFill>
            <a:prstDash val="solid"/>
          </a:ln>
        </p:spPr>
      </p:sp>
      <p:sp>
        <p:nvSpPr>
          <p:cNvPr id="48" name="Shape 46"/>
          <p:cNvSpPr/>
          <p:nvPr/>
        </p:nvSpPr>
        <p:spPr>
          <a:xfrm>
            <a:off x="8337982" y="4071352"/>
            <a:ext cx="109728" cy="109728"/>
          </a:xfrm>
          <a:prstGeom prst="ellipse">
            <a:avLst/>
          </a:prstGeom>
          <a:solidFill>
            <a:srgbClr val="AC9E94"/>
          </a:solidFill>
          <a:ln w="6350">
            <a:solidFill>
              <a:srgbClr val="5A4A62"/>
            </a:solidFill>
            <a:prstDash val="solid"/>
          </a:ln>
        </p:spPr>
      </p:sp>
      <p:sp>
        <p:nvSpPr>
          <p:cNvPr id="49" name="Shape 47"/>
          <p:cNvSpPr/>
          <p:nvPr/>
        </p:nvSpPr>
        <p:spPr>
          <a:xfrm>
            <a:off x="8339474" y="3963302"/>
            <a:ext cx="109728" cy="109728"/>
          </a:xfrm>
          <a:prstGeom prst="ellipse">
            <a:avLst/>
          </a:prstGeom>
          <a:solidFill>
            <a:srgbClr val="AC9E94"/>
          </a:solidFill>
          <a:ln w="6350">
            <a:solidFill>
              <a:srgbClr val="5A4A62"/>
            </a:solidFill>
            <a:prstDash val="solid"/>
          </a:ln>
        </p:spPr>
      </p:sp>
      <p:sp>
        <p:nvSpPr>
          <p:cNvPr id="50" name="Shape 48"/>
          <p:cNvSpPr/>
          <p:nvPr/>
        </p:nvSpPr>
        <p:spPr>
          <a:xfrm>
            <a:off x="8533614" y="3867327"/>
            <a:ext cx="109728" cy="109728"/>
          </a:xfrm>
          <a:prstGeom prst="ellipse">
            <a:avLst/>
          </a:prstGeom>
          <a:solidFill>
            <a:srgbClr val="AC9E94"/>
          </a:solidFill>
          <a:ln w="6350">
            <a:solidFill>
              <a:srgbClr val="5A4A62"/>
            </a:solidFill>
            <a:prstDash val="solid"/>
          </a:ln>
        </p:spPr>
      </p:sp>
      <p:sp>
        <p:nvSpPr>
          <p:cNvPr id="51" name="Shape 49"/>
          <p:cNvSpPr/>
          <p:nvPr/>
        </p:nvSpPr>
        <p:spPr>
          <a:xfrm>
            <a:off x="8510179" y="3807317"/>
            <a:ext cx="109728" cy="109728"/>
          </a:xfrm>
          <a:prstGeom prst="ellipse">
            <a:avLst/>
          </a:prstGeom>
          <a:solidFill>
            <a:srgbClr val="AC9E94"/>
          </a:solidFill>
          <a:ln w="6350">
            <a:solidFill>
              <a:srgbClr val="5A4A62"/>
            </a:solidFill>
            <a:prstDash val="solid"/>
          </a:ln>
        </p:spPr>
      </p:sp>
      <p:sp>
        <p:nvSpPr>
          <p:cNvPr id="52" name="Shape 50"/>
          <p:cNvSpPr/>
          <p:nvPr/>
        </p:nvSpPr>
        <p:spPr>
          <a:xfrm>
            <a:off x="8768199" y="3787594"/>
            <a:ext cx="109728" cy="109728"/>
          </a:xfrm>
          <a:prstGeom prst="ellipse">
            <a:avLst/>
          </a:prstGeom>
          <a:solidFill>
            <a:srgbClr val="AC9E94"/>
          </a:solidFill>
          <a:ln w="6350">
            <a:solidFill>
              <a:srgbClr val="5A4A62"/>
            </a:solidFill>
            <a:prstDash val="solid"/>
          </a:ln>
        </p:spPr>
      </p:sp>
      <p:sp>
        <p:nvSpPr>
          <p:cNvPr id="53" name="Shape 51"/>
          <p:cNvSpPr/>
          <p:nvPr/>
        </p:nvSpPr>
        <p:spPr>
          <a:xfrm>
            <a:off x="8826022" y="3710278"/>
            <a:ext cx="109728" cy="109728"/>
          </a:xfrm>
          <a:prstGeom prst="ellipse">
            <a:avLst/>
          </a:prstGeom>
          <a:solidFill>
            <a:srgbClr val="AC9E94"/>
          </a:solidFill>
          <a:ln w="6350">
            <a:solidFill>
              <a:srgbClr val="5A4A62"/>
            </a:solidFill>
            <a:prstDash val="solid"/>
          </a:ln>
        </p:spPr>
      </p:sp>
      <p:sp>
        <p:nvSpPr>
          <p:cNvPr id="54" name="Shape 52"/>
          <p:cNvSpPr/>
          <p:nvPr/>
        </p:nvSpPr>
        <p:spPr>
          <a:xfrm>
            <a:off x="8868929" y="3625773"/>
            <a:ext cx="109728" cy="109728"/>
          </a:xfrm>
          <a:prstGeom prst="ellipse">
            <a:avLst/>
          </a:prstGeom>
          <a:solidFill>
            <a:srgbClr val="AC9E94"/>
          </a:solidFill>
          <a:ln w="6350">
            <a:solidFill>
              <a:srgbClr val="5A4A62"/>
            </a:solidFill>
            <a:prstDash val="solid"/>
          </a:ln>
        </p:spPr>
      </p:sp>
      <p:sp>
        <p:nvSpPr>
          <p:cNvPr id="55" name="Shape 53"/>
          <p:cNvSpPr/>
          <p:nvPr/>
        </p:nvSpPr>
        <p:spPr>
          <a:xfrm>
            <a:off x="8957148" y="3441676"/>
            <a:ext cx="109728" cy="109728"/>
          </a:xfrm>
          <a:prstGeom prst="ellipse">
            <a:avLst/>
          </a:prstGeom>
          <a:solidFill>
            <a:srgbClr val="AC9E94"/>
          </a:solidFill>
          <a:ln w="6350">
            <a:solidFill>
              <a:srgbClr val="5A4A62"/>
            </a:solidFill>
            <a:prstDash val="solid"/>
          </a:ln>
        </p:spPr>
      </p:sp>
      <p:sp>
        <p:nvSpPr>
          <p:cNvPr id="56" name="Shape 54"/>
          <p:cNvSpPr/>
          <p:nvPr/>
        </p:nvSpPr>
        <p:spPr>
          <a:xfrm>
            <a:off x="9124425" y="3470466"/>
            <a:ext cx="109728" cy="109728"/>
          </a:xfrm>
          <a:prstGeom prst="ellipse">
            <a:avLst/>
          </a:prstGeom>
          <a:solidFill>
            <a:srgbClr val="AC9E94"/>
          </a:solidFill>
          <a:ln w="6350">
            <a:solidFill>
              <a:srgbClr val="5A4A62"/>
            </a:solidFill>
            <a:prstDash val="solid"/>
          </a:ln>
        </p:spPr>
      </p:sp>
      <p:sp>
        <p:nvSpPr>
          <p:cNvPr id="57" name="Shape 55"/>
          <p:cNvSpPr/>
          <p:nvPr/>
        </p:nvSpPr>
        <p:spPr>
          <a:xfrm>
            <a:off x="9161400" y="3272861"/>
            <a:ext cx="109728" cy="109728"/>
          </a:xfrm>
          <a:prstGeom prst="ellipse">
            <a:avLst/>
          </a:prstGeom>
          <a:solidFill>
            <a:srgbClr val="AC9E94"/>
          </a:solidFill>
          <a:ln w="6350">
            <a:solidFill>
              <a:srgbClr val="5A4A62"/>
            </a:solidFill>
            <a:prstDash val="solid"/>
          </a:ln>
        </p:spPr>
      </p:sp>
      <p:sp>
        <p:nvSpPr>
          <p:cNvPr id="58" name="Shape 56"/>
          <p:cNvSpPr/>
          <p:nvPr/>
        </p:nvSpPr>
        <p:spPr>
          <a:xfrm>
            <a:off x="9323125" y="3197560"/>
            <a:ext cx="109728" cy="109728"/>
          </a:xfrm>
          <a:prstGeom prst="ellipse">
            <a:avLst/>
          </a:prstGeom>
          <a:solidFill>
            <a:srgbClr val="AC9E94"/>
          </a:solidFill>
          <a:ln w="6350">
            <a:solidFill>
              <a:srgbClr val="5A4A62"/>
            </a:solidFill>
            <a:prstDash val="solid"/>
          </a:ln>
        </p:spPr>
      </p:sp>
      <p:sp>
        <p:nvSpPr>
          <p:cNvPr id="59" name="Shape 57"/>
          <p:cNvSpPr/>
          <p:nvPr/>
        </p:nvSpPr>
        <p:spPr>
          <a:xfrm>
            <a:off x="9395192" y="3169132"/>
            <a:ext cx="109728" cy="109728"/>
          </a:xfrm>
          <a:prstGeom prst="ellipse">
            <a:avLst/>
          </a:prstGeom>
          <a:solidFill>
            <a:srgbClr val="AC9E94"/>
          </a:solidFill>
          <a:ln w="6350">
            <a:solidFill>
              <a:srgbClr val="5A4A62"/>
            </a:solidFill>
            <a:prstDash val="solid"/>
          </a:ln>
        </p:spPr>
      </p:sp>
      <p:sp>
        <p:nvSpPr>
          <p:cNvPr id="60" name="Shape 58"/>
          <p:cNvSpPr/>
          <p:nvPr/>
        </p:nvSpPr>
        <p:spPr>
          <a:xfrm>
            <a:off x="9446146" y="3146374"/>
            <a:ext cx="109728" cy="109728"/>
          </a:xfrm>
          <a:prstGeom prst="ellipse">
            <a:avLst/>
          </a:prstGeom>
          <a:solidFill>
            <a:srgbClr val="AC9E94"/>
          </a:solidFill>
          <a:ln w="6350">
            <a:solidFill>
              <a:srgbClr val="5A4A62"/>
            </a:solidFill>
            <a:prstDash val="solid"/>
          </a:ln>
        </p:spPr>
      </p:sp>
      <p:sp>
        <p:nvSpPr>
          <p:cNvPr id="61" name="Shape 59"/>
          <p:cNvSpPr/>
          <p:nvPr/>
        </p:nvSpPr>
        <p:spPr>
          <a:xfrm>
            <a:off x="9645817" y="2987687"/>
            <a:ext cx="109728" cy="109728"/>
          </a:xfrm>
          <a:prstGeom prst="ellipse">
            <a:avLst/>
          </a:prstGeom>
          <a:solidFill>
            <a:srgbClr val="AC9E94"/>
          </a:solidFill>
          <a:ln w="6350">
            <a:solidFill>
              <a:srgbClr val="5A4A62"/>
            </a:solidFill>
            <a:prstDash val="solid"/>
          </a:ln>
        </p:spPr>
      </p:sp>
      <p:sp>
        <p:nvSpPr>
          <p:cNvPr id="62" name="Shape 60"/>
          <p:cNvSpPr/>
          <p:nvPr/>
        </p:nvSpPr>
        <p:spPr>
          <a:xfrm>
            <a:off x="9691313" y="2900486"/>
            <a:ext cx="109728" cy="109728"/>
          </a:xfrm>
          <a:prstGeom prst="ellipse">
            <a:avLst/>
          </a:prstGeom>
          <a:solidFill>
            <a:srgbClr val="AC9E94"/>
          </a:solidFill>
          <a:ln w="6350">
            <a:solidFill>
              <a:srgbClr val="5A4A62"/>
            </a:solidFill>
            <a:prstDash val="solid"/>
          </a:ln>
        </p:spPr>
      </p:sp>
      <p:sp>
        <p:nvSpPr>
          <p:cNvPr id="63" name="Shape 61"/>
          <p:cNvSpPr/>
          <p:nvPr/>
        </p:nvSpPr>
        <p:spPr>
          <a:xfrm>
            <a:off x="9787996" y="2869600"/>
            <a:ext cx="109728" cy="109728"/>
          </a:xfrm>
          <a:prstGeom prst="ellipse">
            <a:avLst/>
          </a:prstGeom>
          <a:solidFill>
            <a:srgbClr val="AC9E94"/>
          </a:solidFill>
          <a:ln w="6350">
            <a:solidFill>
              <a:srgbClr val="5A4A62"/>
            </a:solidFill>
            <a:prstDash val="solid"/>
          </a:ln>
        </p:spPr>
      </p:sp>
      <p:sp>
        <p:nvSpPr>
          <p:cNvPr id="64" name="Shape 62"/>
          <p:cNvSpPr/>
          <p:nvPr/>
        </p:nvSpPr>
        <p:spPr>
          <a:xfrm>
            <a:off x="9989515" y="2709509"/>
            <a:ext cx="109728" cy="109728"/>
          </a:xfrm>
          <a:prstGeom prst="ellipse">
            <a:avLst/>
          </a:prstGeom>
          <a:solidFill>
            <a:srgbClr val="AC9E94"/>
          </a:solidFill>
          <a:ln w="6350">
            <a:solidFill>
              <a:srgbClr val="5A4A62"/>
            </a:solidFill>
            <a:prstDash val="solid"/>
          </a:ln>
        </p:spPr>
      </p:sp>
      <p:sp>
        <p:nvSpPr>
          <p:cNvPr id="65" name="Shape 63"/>
          <p:cNvSpPr/>
          <p:nvPr/>
        </p:nvSpPr>
        <p:spPr>
          <a:xfrm>
            <a:off x="10050009" y="2723623"/>
            <a:ext cx="109728" cy="109728"/>
          </a:xfrm>
          <a:prstGeom prst="ellipse">
            <a:avLst/>
          </a:prstGeom>
          <a:solidFill>
            <a:srgbClr val="AC9E94"/>
          </a:solidFill>
          <a:ln w="6350">
            <a:solidFill>
              <a:srgbClr val="5A4A62"/>
            </a:solidFill>
            <a:prstDash val="solid"/>
          </a:ln>
        </p:spPr>
      </p:sp>
      <p:sp>
        <p:nvSpPr>
          <p:cNvPr id="66" name="Shape 64"/>
          <p:cNvSpPr/>
          <p:nvPr/>
        </p:nvSpPr>
        <p:spPr>
          <a:xfrm rot="2700000">
            <a:off x="8814816" y="3557016"/>
            <a:ext cx="201168" cy="201168"/>
          </a:xfrm>
          <a:prstGeom prst="rect">
            <a:avLst/>
          </a:prstGeom>
          <a:solidFill>
            <a:srgbClr val="602D89"/>
          </a:solidFill>
          <a:ln w="12700">
            <a:solidFill>
              <a:srgbClr val="251230"/>
            </a:solidFill>
            <a:prstDash val="solid"/>
          </a:ln>
        </p:spPr>
      </p:sp>
      <p:sp>
        <p:nvSpPr>
          <p:cNvPr id="67" name="Shape 65"/>
          <p:cNvSpPr/>
          <p:nvPr/>
        </p:nvSpPr>
        <p:spPr>
          <a:xfrm rot="-2700000">
            <a:off x="7543800" y="3314700"/>
            <a:ext cx="2743200" cy="685800"/>
          </a:xfrm>
          <a:prstGeom prst="ellipse">
            <a:avLst/>
          </a:prstGeom>
          <a:solidFill>
            <a:srgbClr val="EA580C">
              <a:alpha val="0"/>
            </a:srgbClr>
          </a:solidFill>
          <a:ln w="22225">
            <a:solidFill>
              <a:srgbClr val="EA580C"/>
            </a:solidFill>
            <a:prstDash val="dash"/>
          </a:ln>
        </p:spPr>
      </p:sp>
      <p:sp>
        <p:nvSpPr>
          <p:cNvPr id="68" name="Shape 66"/>
          <p:cNvSpPr/>
          <p:nvPr/>
        </p:nvSpPr>
        <p:spPr>
          <a:xfrm rot="-2700000">
            <a:off x="7909560" y="3406140"/>
            <a:ext cx="2011680" cy="502920"/>
          </a:xfrm>
          <a:prstGeom prst="ellipse">
            <a:avLst/>
          </a:prstGeom>
          <a:solidFill>
            <a:srgbClr val="EA580C">
              <a:alpha val="0"/>
            </a:srgbClr>
          </a:solidFill>
          <a:ln w="22225">
            <a:solidFill>
              <a:srgbClr val="EA580C"/>
            </a:solidFill>
            <a:prstDash val="dash"/>
          </a:ln>
        </p:spPr>
      </p:sp>
      <p:sp>
        <p:nvSpPr>
          <p:cNvPr id="69" name="Shape 67"/>
          <p:cNvSpPr/>
          <p:nvPr/>
        </p:nvSpPr>
        <p:spPr>
          <a:xfrm rot="-2700000">
            <a:off x="8275320" y="3497580"/>
            <a:ext cx="1280160" cy="320040"/>
          </a:xfrm>
          <a:prstGeom prst="ellipse">
            <a:avLst/>
          </a:prstGeom>
          <a:solidFill>
            <a:srgbClr val="EA580C">
              <a:alpha val="0"/>
            </a:srgbClr>
          </a:solidFill>
          <a:ln w="22225">
            <a:solidFill>
              <a:srgbClr val="EA580C"/>
            </a:solidFill>
            <a:prstDash val="solid"/>
          </a:ln>
        </p:spPr>
      </p:sp>
      <p:sp>
        <p:nvSpPr>
          <p:cNvPr id="70" name="Shape 68"/>
          <p:cNvSpPr/>
          <p:nvPr/>
        </p:nvSpPr>
        <p:spPr>
          <a:xfrm>
            <a:off x="7848923" y="4174598"/>
            <a:ext cx="292608" cy="292608"/>
          </a:xfrm>
          <a:prstGeom prst="ellipse">
            <a:avLst/>
          </a:prstGeom>
          <a:solidFill>
            <a:srgbClr val="FFFFFF">
              <a:alpha val="0"/>
            </a:srgbClr>
          </a:solidFill>
          <a:ln w="31750">
            <a:solidFill>
              <a:srgbClr val="EA580C"/>
            </a:solidFill>
            <a:prstDash val="solid"/>
          </a:ln>
        </p:spPr>
      </p:sp>
      <p:sp>
        <p:nvSpPr>
          <p:cNvPr id="71" name="Shape 69"/>
          <p:cNvSpPr/>
          <p:nvPr/>
        </p:nvSpPr>
        <p:spPr>
          <a:xfrm>
            <a:off x="8062161" y="4116401"/>
            <a:ext cx="292608" cy="292608"/>
          </a:xfrm>
          <a:prstGeom prst="ellipse">
            <a:avLst/>
          </a:prstGeom>
          <a:solidFill>
            <a:srgbClr val="FFFFFF">
              <a:alpha val="0"/>
            </a:srgbClr>
          </a:solidFill>
          <a:ln w="31750">
            <a:solidFill>
              <a:srgbClr val="EA580C"/>
            </a:solidFill>
            <a:prstDash val="solid"/>
          </a:ln>
        </p:spPr>
      </p:sp>
      <p:sp>
        <p:nvSpPr>
          <p:cNvPr id="72" name="Shape 70"/>
          <p:cNvSpPr/>
          <p:nvPr/>
        </p:nvSpPr>
        <p:spPr>
          <a:xfrm>
            <a:off x="9599873" y="2809046"/>
            <a:ext cx="292608" cy="292608"/>
          </a:xfrm>
          <a:prstGeom prst="ellipse">
            <a:avLst/>
          </a:prstGeom>
          <a:solidFill>
            <a:srgbClr val="FFFFFF">
              <a:alpha val="0"/>
            </a:srgbClr>
          </a:solidFill>
          <a:ln w="31750">
            <a:solidFill>
              <a:srgbClr val="EA580C"/>
            </a:solidFill>
            <a:prstDash val="solid"/>
          </a:ln>
        </p:spPr>
      </p:sp>
      <p:sp>
        <p:nvSpPr>
          <p:cNvPr id="73" name="Shape 71"/>
          <p:cNvSpPr/>
          <p:nvPr/>
        </p:nvSpPr>
        <p:spPr>
          <a:xfrm>
            <a:off x="9696556" y="2778160"/>
            <a:ext cx="292608" cy="292608"/>
          </a:xfrm>
          <a:prstGeom prst="ellipse">
            <a:avLst/>
          </a:prstGeom>
          <a:solidFill>
            <a:srgbClr val="FFFFFF">
              <a:alpha val="0"/>
            </a:srgbClr>
          </a:solidFill>
          <a:ln w="31750">
            <a:solidFill>
              <a:srgbClr val="EA580C"/>
            </a:solidFill>
            <a:prstDash val="solid"/>
          </a:ln>
        </p:spPr>
      </p:sp>
      <p:sp>
        <p:nvSpPr>
          <p:cNvPr id="74" name="Text 72"/>
          <p:cNvSpPr/>
          <p:nvPr/>
        </p:nvSpPr>
        <p:spPr>
          <a:xfrm>
            <a:off x="594360" y="5806440"/>
            <a:ext cx="5303520" cy="640080"/>
          </a:xfrm>
          <a:prstGeom prst="rect">
            <a:avLst/>
          </a:prstGeom>
          <a:noFill/>
          <a:ln/>
        </p:spPr>
        <p:txBody>
          <a:bodyPr wrap="square" rtlCol="0" anchor="ctr"/>
          <a:lstStyle/>
          <a:p>
            <a:pPr algn="ctr" indent="0" marL="0">
              <a:buNone/>
            </a:pPr>
            <a:r>
              <a:rPr lang="en-US" sz="1200" dirty="0">
                <a:solidFill>
                  <a:srgbClr val="1F1226"/>
                </a:solidFill>
                <a:latin typeface="Calibri" pitchFamily="34" charset="0"/>
                <a:ea typeface="Calibri" pitchFamily="34" charset="-122"/>
                <a:cs typeface="Calibri" pitchFamily="34" charset="-120"/>
              </a:rPr>
              <a:t>Contours are circles. "Close" = similar on every variable, independently.</a:t>
            </a:r>
            <a:endParaRPr lang="en-US" sz="1200" dirty="0"/>
          </a:p>
        </p:txBody>
      </p:sp>
      <p:sp>
        <p:nvSpPr>
          <p:cNvPr id="75" name="Text 73"/>
          <p:cNvSpPr/>
          <p:nvPr/>
        </p:nvSpPr>
        <p:spPr>
          <a:xfrm>
            <a:off x="6263640" y="5806440"/>
            <a:ext cx="5303520" cy="640080"/>
          </a:xfrm>
          <a:prstGeom prst="rect">
            <a:avLst/>
          </a:prstGeom>
          <a:noFill/>
          <a:ln/>
        </p:spPr>
        <p:txBody>
          <a:bodyPr wrap="square" rtlCol="0" anchor="ctr"/>
          <a:lstStyle/>
          <a:p>
            <a:pPr algn="ctr" indent="0" marL="0">
              <a:buNone/>
            </a:pPr>
            <a:r>
              <a:rPr lang="en-US" sz="1200" dirty="0">
                <a:solidFill>
                  <a:srgbClr val="1F1226"/>
                </a:solidFill>
                <a:latin typeface="Calibri" pitchFamily="34" charset="0"/>
                <a:ea typeface="Calibri" pitchFamily="34" charset="-122"/>
                <a:cs typeface="Calibri" pitchFamily="34" charset="-120"/>
              </a:rPr>
              <a:t>Contours are ellipses following the data's natural pattern. "Close" = matches the underlying archetype.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11247120" cy="822960"/>
          </a:xfrm>
          <a:prstGeom prst="rect">
            <a:avLst/>
          </a:prstGeom>
          <a:noFill/>
          <a:ln/>
        </p:spPr>
        <p:txBody>
          <a:bodyPr wrap="square" rtlCol="0" anchor="ctr"/>
          <a:lstStyle/>
          <a:p>
            <a:pPr indent="0" marL="0">
              <a:buNone/>
            </a:pPr>
            <a:r>
              <a:rPr lang="en-US" sz="3600" b="1" dirty="0">
                <a:solidFill>
                  <a:srgbClr val="251230"/>
                </a:solidFill>
                <a:latin typeface="Cambria" pitchFamily="34" charset="0"/>
                <a:ea typeface="Cambria" pitchFamily="34" charset="-122"/>
                <a:cs typeface="Cambria" pitchFamily="34" charset="-120"/>
              </a:rPr>
              <a:t>Choosing your metric</a:t>
            </a:r>
            <a:endParaRPr lang="en-US" sz="3600" dirty="0"/>
          </a:p>
        </p:txBody>
      </p:sp>
      <p:sp>
        <p:nvSpPr>
          <p:cNvPr id="3" name="Shape 1"/>
          <p:cNvSpPr/>
          <p:nvPr/>
        </p:nvSpPr>
        <p:spPr>
          <a:xfrm>
            <a:off x="548640" y="1554480"/>
            <a:ext cx="5394960" cy="4206240"/>
          </a:xfrm>
          <a:prstGeom prst="rect">
            <a:avLst/>
          </a:prstGeom>
          <a:solidFill>
            <a:srgbClr val="FFFFFF"/>
          </a:solidFill>
          <a:ln w="25400">
            <a:solidFill>
              <a:srgbClr val="602D89"/>
            </a:solidFill>
            <a:prstDash val="solid"/>
          </a:ln>
        </p:spPr>
      </p:sp>
      <p:sp>
        <p:nvSpPr>
          <p:cNvPr id="4" name="Shape 2"/>
          <p:cNvSpPr/>
          <p:nvPr/>
        </p:nvSpPr>
        <p:spPr>
          <a:xfrm>
            <a:off x="548640" y="1554480"/>
            <a:ext cx="5394960" cy="640080"/>
          </a:xfrm>
          <a:prstGeom prst="rect">
            <a:avLst/>
          </a:prstGeom>
          <a:solidFill>
            <a:srgbClr val="602D89"/>
          </a:solidFill>
          <a:ln/>
        </p:spPr>
      </p:sp>
      <p:sp>
        <p:nvSpPr>
          <p:cNvPr id="5" name="Text 3"/>
          <p:cNvSpPr/>
          <p:nvPr/>
        </p:nvSpPr>
        <p:spPr>
          <a:xfrm>
            <a:off x="548640" y="1554480"/>
            <a:ext cx="539496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Use EUCLIDEAN when...</a:t>
            </a:r>
            <a:endParaRPr lang="en-US" sz="1800" dirty="0"/>
          </a:p>
        </p:txBody>
      </p:sp>
      <p:sp>
        <p:nvSpPr>
          <p:cNvPr id="6" name="Text 4"/>
          <p:cNvSpPr/>
          <p:nvPr/>
        </p:nvSpPr>
        <p:spPr>
          <a:xfrm>
            <a:off x="914400" y="2331720"/>
            <a:ext cx="4663440" cy="3429000"/>
          </a:xfrm>
          <a:prstGeom prst="rect">
            <a:avLst/>
          </a:prstGeom>
          <a:noFill/>
          <a:ln/>
        </p:spPr>
        <p:txBody>
          <a:bodyPr wrap="square" rtlCol="0" anchor="ctr"/>
          <a:lstStyle/>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Building a peer set for benchmarking, NECHE, IPEDS comparison, board reports</a:t>
            </a:r>
            <a:endParaRPr lang="en-US" sz="1400" dirty="0"/>
          </a:p>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You want your theme-weight choices to drive the ranking</a:t>
            </a:r>
            <a:endParaRPr lang="en-US" sz="1400" dirty="0"/>
          </a:p>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You need a defensible, predictable list</a:t>
            </a:r>
            <a:endParaRPr lang="en-US" sz="1400" dirty="0"/>
          </a:p>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Default choice — the standard IR peer-search metric</a:t>
            </a:r>
            <a:endParaRPr lang="en-US" sz="1400" dirty="0"/>
          </a:p>
        </p:txBody>
      </p:sp>
      <p:sp>
        <p:nvSpPr>
          <p:cNvPr id="7" name="Shape 5"/>
          <p:cNvSpPr/>
          <p:nvPr/>
        </p:nvSpPr>
        <p:spPr>
          <a:xfrm>
            <a:off x="6263640" y="1554480"/>
            <a:ext cx="5394960" cy="4206240"/>
          </a:xfrm>
          <a:prstGeom prst="rect">
            <a:avLst/>
          </a:prstGeom>
          <a:solidFill>
            <a:srgbClr val="FFFFFF"/>
          </a:solidFill>
          <a:ln w="25400">
            <a:solidFill>
              <a:srgbClr val="EA580C"/>
            </a:solidFill>
            <a:prstDash val="solid"/>
          </a:ln>
        </p:spPr>
      </p:sp>
      <p:sp>
        <p:nvSpPr>
          <p:cNvPr id="8" name="Shape 6"/>
          <p:cNvSpPr/>
          <p:nvPr/>
        </p:nvSpPr>
        <p:spPr>
          <a:xfrm>
            <a:off x="6263640" y="1554480"/>
            <a:ext cx="5394960" cy="640080"/>
          </a:xfrm>
          <a:prstGeom prst="rect">
            <a:avLst/>
          </a:prstGeom>
          <a:solidFill>
            <a:srgbClr val="EA580C"/>
          </a:solidFill>
          <a:ln/>
        </p:spPr>
      </p:sp>
      <p:sp>
        <p:nvSpPr>
          <p:cNvPr id="9" name="Text 7"/>
          <p:cNvSpPr/>
          <p:nvPr/>
        </p:nvSpPr>
        <p:spPr>
          <a:xfrm>
            <a:off x="6263640" y="1554480"/>
            <a:ext cx="539496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Use MAHALANOBIS when...</a:t>
            </a:r>
            <a:endParaRPr lang="en-US" sz="1800" dirty="0"/>
          </a:p>
        </p:txBody>
      </p:sp>
      <p:sp>
        <p:nvSpPr>
          <p:cNvPr id="10" name="Text 8"/>
          <p:cNvSpPr/>
          <p:nvPr/>
        </p:nvSpPr>
        <p:spPr>
          <a:xfrm>
            <a:off x="6629400" y="2331720"/>
            <a:ext cx="4663440" cy="3429000"/>
          </a:xfrm>
          <a:prstGeom prst="rect">
            <a:avLst/>
          </a:prstGeom>
          <a:noFill/>
          <a:ln/>
        </p:spPr>
        <p:txBody>
          <a:bodyPr wrap="square" rtlCol="0" anchor="ctr"/>
          <a:lstStyle/>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You want a "second opinion" on a peer set built with Euclidean</a:t>
            </a:r>
            <a:endParaRPr lang="en-US" sz="1400" dirty="0"/>
          </a:p>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Exploring institutional archetype — schools that share our overall character</a:t>
            </a:r>
            <a:endParaRPr lang="en-US" sz="1400" dirty="0"/>
          </a:p>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Answering "who competes with us for students, hires from same markets?"</a:t>
            </a:r>
            <a:endParaRPr lang="en-US" sz="1400" dirty="0"/>
          </a:p>
          <a:p>
            <a:pPr marL="342900" indent="-342900">
              <a:spcAft>
                <a:spcPts val="1200"/>
              </a:spcAft>
              <a:buSzPct val="100000"/>
              <a:buChar char="●"/>
            </a:pPr>
            <a:r>
              <a:rPr lang="en-US" sz="1400" dirty="0">
                <a:solidFill>
                  <a:srgbClr val="1F1226"/>
                </a:solidFill>
                <a:latin typeface="Calibri" pitchFamily="34" charset="0"/>
                <a:ea typeface="Calibri" pitchFamily="34" charset="-122"/>
                <a:cs typeface="Calibri" pitchFamily="34" charset="-120"/>
              </a:rPr>
              <a:t>Weights are effectively ignored — use inclusion (yes/no) only</a:t>
            </a:r>
            <a:endParaRPr lang="en-US" sz="1400" dirty="0"/>
          </a:p>
        </p:txBody>
      </p:sp>
      <p:sp>
        <p:nvSpPr>
          <p:cNvPr id="11" name="Text 9"/>
          <p:cNvSpPr/>
          <p:nvPr/>
        </p:nvSpPr>
        <p:spPr>
          <a:xfrm>
            <a:off x="457200" y="5989320"/>
            <a:ext cx="11247120" cy="365760"/>
          </a:xfrm>
          <a:prstGeom prst="rect">
            <a:avLst/>
          </a:prstGeom>
          <a:noFill/>
          <a:ln/>
        </p:spPr>
        <p:txBody>
          <a:bodyPr wrap="square" rtlCol="0" anchor="ctr"/>
          <a:lstStyle/>
          <a:p>
            <a:pPr algn="ctr" indent="0" marL="0">
              <a:buNone/>
            </a:pPr>
            <a:r>
              <a:rPr lang="en-US" sz="1500" b="1" i="1" dirty="0">
                <a:solidFill>
                  <a:srgbClr val="602D89"/>
                </a:solidFill>
                <a:latin typeface="Calibri" pitchFamily="34" charset="0"/>
                <a:ea typeface="Calibri" pitchFamily="34" charset="-122"/>
                <a:cs typeface="Calibri" pitchFamily="34" charset="-120"/>
              </a:rPr>
              <a:t>The most valuable pattern: use both, and look at the overlap.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11247120" cy="822960"/>
          </a:xfrm>
          <a:prstGeom prst="rect">
            <a:avLst/>
          </a:prstGeom>
          <a:noFill/>
          <a:ln/>
        </p:spPr>
        <p:txBody>
          <a:bodyPr wrap="square" rtlCol="0" anchor="ctr"/>
          <a:lstStyle/>
          <a:p>
            <a:pPr indent="0" marL="0">
              <a:buNone/>
            </a:pPr>
            <a:r>
              <a:rPr lang="en-US" sz="3600" b="1" dirty="0">
                <a:solidFill>
                  <a:srgbClr val="251230"/>
                </a:solidFill>
                <a:latin typeface="Cambria" pitchFamily="34" charset="0"/>
                <a:ea typeface="Cambria" pitchFamily="34" charset="-122"/>
                <a:cs typeface="Cambria" pitchFamily="34" charset="-120"/>
              </a:rPr>
              <a:t>Two views → the robust peer set</a:t>
            </a:r>
            <a:endParaRPr lang="en-US" sz="3600" dirty="0"/>
          </a:p>
        </p:txBody>
      </p:sp>
      <p:sp>
        <p:nvSpPr>
          <p:cNvPr id="3" name="Text 1"/>
          <p:cNvSpPr/>
          <p:nvPr/>
        </p:nvSpPr>
        <p:spPr>
          <a:xfrm>
            <a:off x="457200" y="1143000"/>
            <a:ext cx="11247120" cy="457200"/>
          </a:xfrm>
          <a:prstGeom prst="rect">
            <a:avLst/>
          </a:prstGeom>
          <a:noFill/>
          <a:ln/>
        </p:spPr>
        <p:txBody>
          <a:bodyPr wrap="square" rtlCol="0" anchor="ctr"/>
          <a:lstStyle/>
          <a:p>
            <a:pPr indent="0" marL="0">
              <a:buNone/>
            </a:pPr>
            <a:r>
              <a:rPr lang="en-US" sz="1500" i="1" dirty="0">
                <a:solidFill>
                  <a:srgbClr val="5A4A62"/>
                </a:solidFill>
                <a:latin typeface="Calibri" pitchFamily="34" charset="0"/>
                <a:ea typeface="Calibri" pitchFamily="34" charset="-122"/>
                <a:cs typeface="Calibri" pitchFamily="34" charset="-120"/>
              </a:rPr>
              <a:t>For Holy Cross at K=40, both metrics agree on 18 schools. Those are our highest-confidence peers.</a:t>
            </a:r>
            <a:endParaRPr lang="en-US" sz="1500" dirty="0"/>
          </a:p>
        </p:txBody>
      </p:sp>
      <p:sp>
        <p:nvSpPr>
          <p:cNvPr id="4" name="Shape 2"/>
          <p:cNvSpPr/>
          <p:nvPr/>
        </p:nvSpPr>
        <p:spPr>
          <a:xfrm>
            <a:off x="2468880" y="2286000"/>
            <a:ext cx="3291840" cy="3291840"/>
          </a:xfrm>
          <a:prstGeom prst="ellipse">
            <a:avLst/>
          </a:prstGeom>
          <a:solidFill>
            <a:srgbClr val="602D89">
              <a:alpha val="40000"/>
            </a:srgbClr>
          </a:solidFill>
          <a:ln w="31750">
            <a:solidFill>
              <a:srgbClr val="602D89"/>
            </a:solidFill>
            <a:prstDash val="solid"/>
          </a:ln>
        </p:spPr>
      </p:sp>
      <p:sp>
        <p:nvSpPr>
          <p:cNvPr id="5" name="Shape 3"/>
          <p:cNvSpPr/>
          <p:nvPr/>
        </p:nvSpPr>
        <p:spPr>
          <a:xfrm>
            <a:off x="4389120" y="2286000"/>
            <a:ext cx="3291840" cy="3291840"/>
          </a:xfrm>
          <a:prstGeom prst="ellipse">
            <a:avLst/>
          </a:prstGeom>
          <a:solidFill>
            <a:srgbClr val="EA580C">
              <a:alpha val="40000"/>
            </a:srgbClr>
          </a:solidFill>
          <a:ln w="31750">
            <a:solidFill>
              <a:srgbClr val="EA580C"/>
            </a:solidFill>
            <a:prstDash val="solid"/>
          </a:ln>
        </p:spPr>
      </p:sp>
      <p:sp>
        <p:nvSpPr>
          <p:cNvPr id="6" name="Text 4"/>
          <p:cNvSpPr/>
          <p:nvPr/>
        </p:nvSpPr>
        <p:spPr>
          <a:xfrm>
            <a:off x="2011680" y="3108960"/>
            <a:ext cx="1920240" cy="365760"/>
          </a:xfrm>
          <a:prstGeom prst="rect">
            <a:avLst/>
          </a:prstGeom>
          <a:noFill/>
          <a:ln/>
        </p:spPr>
        <p:txBody>
          <a:bodyPr wrap="square" rtlCol="0" anchor="ctr"/>
          <a:lstStyle/>
          <a:p>
            <a:pPr algn="ctr" indent="0" marL="0">
              <a:buNone/>
            </a:pPr>
            <a:r>
              <a:rPr lang="en-US" sz="1300" b="1" dirty="0">
                <a:solidFill>
                  <a:srgbClr val="251230"/>
                </a:solidFill>
                <a:latin typeface="Calibri" pitchFamily="34" charset="0"/>
                <a:ea typeface="Calibri" pitchFamily="34" charset="-122"/>
                <a:cs typeface="Calibri" pitchFamily="34" charset="-120"/>
              </a:rPr>
              <a:t>Euclidean only</a:t>
            </a:r>
            <a:endParaRPr lang="en-US" sz="1300" dirty="0"/>
          </a:p>
        </p:txBody>
      </p:sp>
      <p:sp>
        <p:nvSpPr>
          <p:cNvPr id="7" name="Text 5"/>
          <p:cNvSpPr/>
          <p:nvPr/>
        </p:nvSpPr>
        <p:spPr>
          <a:xfrm>
            <a:off x="2011680" y="3474720"/>
            <a:ext cx="1920240" cy="365760"/>
          </a:xfrm>
          <a:prstGeom prst="rect">
            <a:avLst/>
          </a:prstGeom>
          <a:noFill/>
          <a:ln/>
        </p:spPr>
        <p:txBody>
          <a:bodyPr wrap="square" rtlCol="0" anchor="ctr"/>
          <a:lstStyle/>
          <a:p>
            <a:pPr algn="ctr" indent="0" marL="0">
              <a:buNone/>
            </a:pPr>
            <a:r>
              <a:rPr lang="en-US" sz="2200" b="1" dirty="0">
                <a:solidFill>
                  <a:srgbClr val="602D89"/>
                </a:solidFill>
                <a:latin typeface="Calibri" pitchFamily="34" charset="0"/>
                <a:ea typeface="Calibri" pitchFamily="34" charset="-122"/>
                <a:cs typeface="Calibri" pitchFamily="34" charset="-120"/>
              </a:rPr>
              <a:t>22 schools</a:t>
            </a:r>
            <a:endParaRPr lang="en-US" sz="2200" dirty="0"/>
          </a:p>
        </p:txBody>
      </p:sp>
      <p:sp>
        <p:nvSpPr>
          <p:cNvPr id="8" name="Text 6"/>
          <p:cNvSpPr/>
          <p:nvPr/>
        </p:nvSpPr>
        <p:spPr>
          <a:xfrm>
            <a:off x="2011680" y="3977640"/>
            <a:ext cx="1920240" cy="1005840"/>
          </a:xfrm>
          <a:prstGeom prst="rect">
            <a:avLst/>
          </a:prstGeom>
          <a:noFill/>
          <a:ln/>
        </p:spPr>
        <p:txBody>
          <a:bodyPr wrap="square" rtlCol="0" anchor="ctr"/>
          <a:lstStyle/>
          <a:p>
            <a:pPr algn="ctr" indent="0" marL="0">
              <a:buNone/>
            </a:pPr>
            <a:r>
              <a:rPr lang="en-US" sz="1200" i="1" dirty="0">
                <a:solidFill>
                  <a:srgbClr val="5A4A62"/>
                </a:solidFill>
                <a:latin typeface="Calibri" pitchFamily="34" charset="0"/>
                <a:ea typeface="Calibri" pitchFamily="34" charset="-122"/>
                <a:cs typeface="Calibri" pitchFamily="34" charset="-120"/>
              </a:rPr>
              <a:t>Middlebury,</a:t>
            </a:r>
            <a:endParaRPr lang="en-US" sz="1200" dirty="0"/>
          </a:p>
          <a:p>
            <a:pPr algn="ctr" indent="0" marL="0">
              <a:buNone/>
            </a:pPr>
            <a:r>
              <a:rPr lang="en-US" sz="1200" i="1" dirty="0">
                <a:solidFill>
                  <a:srgbClr val="5A4A62"/>
                </a:solidFill>
                <a:latin typeface="Calibri" pitchFamily="34" charset="0"/>
                <a:ea typeface="Calibri" pitchFamily="34" charset="-122"/>
                <a:cs typeface="Calibri" pitchFamily="34" charset="-120"/>
              </a:rPr>
              <a:t>Reed, Colby,</a:t>
            </a:r>
            <a:endParaRPr lang="en-US" sz="1200" dirty="0"/>
          </a:p>
          <a:p>
            <a:pPr algn="ctr" indent="0" marL="0">
              <a:buNone/>
            </a:pPr>
            <a:r>
              <a:rPr lang="en-US" sz="1200" i="1" dirty="0">
                <a:solidFill>
                  <a:srgbClr val="5A4A62"/>
                </a:solidFill>
                <a:latin typeface="Calibri" pitchFamily="34" charset="0"/>
                <a:ea typeface="Calibri" pitchFamily="34" charset="-122"/>
                <a:cs typeface="Calibri" pitchFamily="34" charset="-120"/>
              </a:rPr>
              <a:t>Bowdoin…</a:t>
            </a:r>
            <a:endParaRPr lang="en-US" sz="1200" dirty="0"/>
          </a:p>
        </p:txBody>
      </p:sp>
      <p:sp>
        <p:nvSpPr>
          <p:cNvPr id="9" name="Text 7"/>
          <p:cNvSpPr/>
          <p:nvPr/>
        </p:nvSpPr>
        <p:spPr>
          <a:xfrm>
            <a:off x="4160520" y="3108960"/>
            <a:ext cx="1828800" cy="365760"/>
          </a:xfrm>
          <a:prstGeom prst="rect">
            <a:avLst/>
          </a:prstGeom>
          <a:noFill/>
          <a:ln/>
        </p:spPr>
        <p:txBody>
          <a:bodyPr wrap="square" rtlCol="0" anchor="ctr"/>
          <a:lstStyle/>
          <a:p>
            <a:pPr algn="ctr" indent="0" marL="0">
              <a:buNone/>
            </a:pPr>
            <a:r>
              <a:rPr lang="en-US" sz="1300" b="1" dirty="0">
                <a:solidFill>
                  <a:srgbClr val="251230"/>
                </a:solidFill>
                <a:latin typeface="Calibri" pitchFamily="34" charset="0"/>
                <a:ea typeface="Calibri" pitchFamily="34" charset="-122"/>
                <a:cs typeface="Calibri" pitchFamily="34" charset="-120"/>
              </a:rPr>
              <a:t>Both agree</a:t>
            </a:r>
            <a:endParaRPr lang="en-US" sz="1300" dirty="0"/>
          </a:p>
        </p:txBody>
      </p:sp>
      <p:sp>
        <p:nvSpPr>
          <p:cNvPr id="10" name="Text 8"/>
          <p:cNvSpPr/>
          <p:nvPr/>
        </p:nvSpPr>
        <p:spPr>
          <a:xfrm>
            <a:off x="4160520" y="3429000"/>
            <a:ext cx="1828800" cy="640080"/>
          </a:xfrm>
          <a:prstGeom prst="rect">
            <a:avLst/>
          </a:prstGeom>
          <a:noFill/>
          <a:ln/>
        </p:spPr>
        <p:txBody>
          <a:bodyPr wrap="square" rtlCol="0" anchor="ctr"/>
          <a:lstStyle/>
          <a:p>
            <a:pPr algn="ctr" indent="0" marL="0">
              <a:buNone/>
            </a:pPr>
            <a:r>
              <a:rPr lang="en-US" sz="3600" b="1" dirty="0">
                <a:solidFill>
                  <a:srgbClr val="251230"/>
                </a:solidFill>
                <a:latin typeface="Calibri" pitchFamily="34" charset="0"/>
                <a:ea typeface="Calibri" pitchFamily="34" charset="-122"/>
                <a:cs typeface="Calibri" pitchFamily="34" charset="-120"/>
              </a:rPr>
              <a:t>18</a:t>
            </a:r>
            <a:endParaRPr lang="en-US" sz="3600" dirty="0"/>
          </a:p>
        </p:txBody>
      </p:sp>
      <p:sp>
        <p:nvSpPr>
          <p:cNvPr id="11" name="Text 9"/>
          <p:cNvSpPr/>
          <p:nvPr/>
        </p:nvSpPr>
        <p:spPr>
          <a:xfrm>
            <a:off x="4160520" y="4114800"/>
            <a:ext cx="1828800" cy="320040"/>
          </a:xfrm>
          <a:prstGeom prst="rect">
            <a:avLst/>
          </a:prstGeom>
          <a:noFill/>
          <a:ln/>
        </p:spPr>
        <p:txBody>
          <a:bodyPr wrap="square" rtlCol="0" anchor="ctr"/>
          <a:lstStyle/>
          <a:p>
            <a:pPr algn="ctr" indent="0" marL="0">
              <a:buNone/>
            </a:pPr>
            <a:r>
              <a:rPr lang="en-US" sz="1100" i="1" dirty="0">
                <a:solidFill>
                  <a:srgbClr val="5A4A62"/>
                </a:solidFill>
                <a:latin typeface="Calibri" pitchFamily="34" charset="0"/>
                <a:ea typeface="Calibri" pitchFamily="34" charset="-122"/>
                <a:cs typeface="Calibri" pitchFamily="34" charset="-120"/>
              </a:rPr>
              <a:t>robust peers</a:t>
            </a:r>
            <a:endParaRPr lang="en-US" sz="1100" dirty="0"/>
          </a:p>
        </p:txBody>
      </p:sp>
      <p:sp>
        <p:nvSpPr>
          <p:cNvPr id="12" name="Text 10"/>
          <p:cNvSpPr/>
          <p:nvPr/>
        </p:nvSpPr>
        <p:spPr>
          <a:xfrm>
            <a:off x="4160520" y="4434840"/>
            <a:ext cx="1828800" cy="1005840"/>
          </a:xfrm>
          <a:prstGeom prst="rect">
            <a:avLst/>
          </a:prstGeom>
          <a:noFill/>
          <a:ln/>
        </p:spPr>
        <p:txBody>
          <a:bodyPr wrap="square" rtlCol="0" anchor="ctr"/>
          <a:lstStyle/>
          <a:p>
            <a:pPr algn="ctr" indent="0" marL="0">
              <a:buNone/>
            </a:pPr>
            <a:r>
              <a:rPr lang="en-US" sz="1200" i="1" dirty="0">
                <a:solidFill>
                  <a:srgbClr val="5A4A62"/>
                </a:solidFill>
                <a:latin typeface="Calibri" pitchFamily="34" charset="0"/>
                <a:ea typeface="Calibri" pitchFamily="34" charset="-122"/>
                <a:cs typeface="Calibri" pitchFamily="34" charset="-120"/>
              </a:rPr>
              <a:t>Lafayette,</a:t>
            </a:r>
            <a:endParaRPr lang="en-US" sz="1200" dirty="0"/>
          </a:p>
          <a:p>
            <a:pPr algn="ctr" indent="0" marL="0">
              <a:buNone/>
            </a:pPr>
            <a:r>
              <a:rPr lang="en-US" sz="1200" i="1" dirty="0">
                <a:solidFill>
                  <a:srgbClr val="5A4A62"/>
                </a:solidFill>
                <a:latin typeface="Calibri" pitchFamily="34" charset="0"/>
                <a:ea typeface="Calibri" pitchFamily="34" charset="-122"/>
                <a:cs typeface="Calibri" pitchFamily="34" charset="-120"/>
              </a:rPr>
              <a:t>Bucknell,</a:t>
            </a:r>
            <a:endParaRPr lang="en-US" sz="1200" dirty="0"/>
          </a:p>
          <a:p>
            <a:pPr algn="ctr" indent="0" marL="0">
              <a:buNone/>
            </a:pPr>
            <a:r>
              <a:rPr lang="en-US" sz="1200" i="1" dirty="0">
                <a:solidFill>
                  <a:srgbClr val="5A4A62"/>
                </a:solidFill>
                <a:latin typeface="Calibri" pitchFamily="34" charset="0"/>
                <a:ea typeface="Calibri" pitchFamily="34" charset="-122"/>
                <a:cs typeface="Calibri" pitchFamily="34" charset="-120"/>
              </a:rPr>
              <a:t>Davidson…</a:t>
            </a:r>
            <a:endParaRPr lang="en-US" sz="1200" dirty="0"/>
          </a:p>
        </p:txBody>
      </p:sp>
      <p:sp>
        <p:nvSpPr>
          <p:cNvPr id="13" name="Text 11"/>
          <p:cNvSpPr/>
          <p:nvPr/>
        </p:nvSpPr>
        <p:spPr>
          <a:xfrm>
            <a:off x="6217920" y="3108960"/>
            <a:ext cx="1920240" cy="365760"/>
          </a:xfrm>
          <a:prstGeom prst="rect">
            <a:avLst/>
          </a:prstGeom>
          <a:noFill/>
          <a:ln/>
        </p:spPr>
        <p:txBody>
          <a:bodyPr wrap="square" rtlCol="0" anchor="ctr"/>
          <a:lstStyle/>
          <a:p>
            <a:pPr algn="ctr" indent="0" marL="0">
              <a:buNone/>
            </a:pPr>
            <a:r>
              <a:rPr lang="en-US" sz="1300" b="1" dirty="0">
                <a:solidFill>
                  <a:srgbClr val="7C2D12"/>
                </a:solidFill>
                <a:latin typeface="Calibri" pitchFamily="34" charset="0"/>
                <a:ea typeface="Calibri" pitchFamily="34" charset="-122"/>
                <a:cs typeface="Calibri" pitchFamily="34" charset="-120"/>
              </a:rPr>
              <a:t>Mahalanobis only</a:t>
            </a:r>
            <a:endParaRPr lang="en-US" sz="1300" dirty="0"/>
          </a:p>
        </p:txBody>
      </p:sp>
      <p:sp>
        <p:nvSpPr>
          <p:cNvPr id="14" name="Text 12"/>
          <p:cNvSpPr/>
          <p:nvPr/>
        </p:nvSpPr>
        <p:spPr>
          <a:xfrm>
            <a:off x="6217920" y="3474720"/>
            <a:ext cx="1920240" cy="365760"/>
          </a:xfrm>
          <a:prstGeom prst="rect">
            <a:avLst/>
          </a:prstGeom>
          <a:noFill/>
          <a:ln/>
        </p:spPr>
        <p:txBody>
          <a:bodyPr wrap="square" rtlCol="0" anchor="ctr"/>
          <a:lstStyle/>
          <a:p>
            <a:pPr algn="ctr" indent="0" marL="0">
              <a:buNone/>
            </a:pPr>
            <a:r>
              <a:rPr lang="en-US" sz="2200" b="1" dirty="0">
                <a:solidFill>
                  <a:srgbClr val="EA580C"/>
                </a:solidFill>
                <a:latin typeface="Calibri" pitchFamily="34" charset="0"/>
                <a:ea typeface="Calibri" pitchFamily="34" charset="-122"/>
                <a:cs typeface="Calibri" pitchFamily="34" charset="-120"/>
              </a:rPr>
              <a:t>22 schools</a:t>
            </a:r>
            <a:endParaRPr lang="en-US" sz="2200" dirty="0"/>
          </a:p>
        </p:txBody>
      </p:sp>
      <p:sp>
        <p:nvSpPr>
          <p:cNvPr id="15" name="Text 13"/>
          <p:cNvSpPr/>
          <p:nvPr/>
        </p:nvSpPr>
        <p:spPr>
          <a:xfrm>
            <a:off x="6217920" y="3977640"/>
            <a:ext cx="1920240" cy="1005840"/>
          </a:xfrm>
          <a:prstGeom prst="rect">
            <a:avLst/>
          </a:prstGeom>
          <a:noFill/>
          <a:ln/>
        </p:spPr>
        <p:txBody>
          <a:bodyPr wrap="square" rtlCol="0" anchor="ctr"/>
          <a:lstStyle/>
          <a:p>
            <a:pPr algn="ctr" indent="0" marL="0">
              <a:buNone/>
            </a:pPr>
            <a:r>
              <a:rPr lang="en-US" sz="1200" i="1" dirty="0">
                <a:solidFill>
                  <a:srgbClr val="5A4A62"/>
                </a:solidFill>
                <a:latin typeface="Calibri" pitchFamily="34" charset="0"/>
                <a:ea typeface="Calibri" pitchFamily="34" charset="-122"/>
                <a:cs typeface="Calibri" pitchFamily="34" charset="-120"/>
              </a:rPr>
              <a:t>Villanova, BC,</a:t>
            </a:r>
            <a:endParaRPr lang="en-US" sz="1200" dirty="0"/>
          </a:p>
          <a:p>
            <a:pPr algn="ctr" indent="0" marL="0">
              <a:buNone/>
            </a:pPr>
            <a:r>
              <a:rPr lang="en-US" sz="1200" i="1" dirty="0">
                <a:solidFill>
                  <a:srgbClr val="5A4A62"/>
                </a:solidFill>
                <a:latin typeface="Calibri" pitchFamily="34" charset="0"/>
                <a:ea typeface="Calibri" pitchFamily="34" charset="-122"/>
                <a:cs typeface="Calibri" pitchFamily="34" charset="-120"/>
              </a:rPr>
              <a:t>Notre Dame,</a:t>
            </a:r>
            <a:endParaRPr lang="en-US" sz="1200" dirty="0"/>
          </a:p>
          <a:p>
            <a:pPr algn="ctr" indent="0" marL="0">
              <a:buNone/>
            </a:pPr>
            <a:r>
              <a:rPr lang="en-US" sz="1200" i="1" dirty="0">
                <a:solidFill>
                  <a:srgbClr val="5A4A62"/>
                </a:solidFill>
                <a:latin typeface="Calibri" pitchFamily="34" charset="0"/>
                <a:ea typeface="Calibri" pitchFamily="34" charset="-122"/>
                <a:cs typeface="Calibri" pitchFamily="34" charset="-120"/>
              </a:rPr>
              <a:t>Providence…</a:t>
            </a:r>
            <a:endParaRPr lang="en-US" sz="1200" dirty="0"/>
          </a:p>
        </p:txBody>
      </p:sp>
      <p:sp>
        <p:nvSpPr>
          <p:cNvPr id="16" name="Text 14"/>
          <p:cNvSpPr/>
          <p:nvPr/>
        </p:nvSpPr>
        <p:spPr>
          <a:xfrm>
            <a:off x="8686800" y="1874520"/>
            <a:ext cx="3200400" cy="365760"/>
          </a:xfrm>
          <a:prstGeom prst="rect">
            <a:avLst/>
          </a:prstGeom>
          <a:noFill/>
          <a:ln/>
        </p:spPr>
        <p:txBody>
          <a:bodyPr wrap="square" rtlCol="0" anchor="ctr"/>
          <a:lstStyle/>
          <a:p>
            <a:pPr indent="0" marL="0">
              <a:buNone/>
            </a:pPr>
            <a:r>
              <a:rPr lang="en-US" sz="1600" b="1" dirty="0">
                <a:solidFill>
                  <a:srgbClr val="251230"/>
                </a:solidFill>
                <a:latin typeface="Calibri" pitchFamily="34" charset="0"/>
                <a:ea typeface="Calibri" pitchFamily="34" charset="-122"/>
                <a:cs typeface="Calibri" pitchFamily="34" charset="-120"/>
              </a:rPr>
              <a:t>What each region tells you</a:t>
            </a:r>
            <a:endParaRPr lang="en-US" sz="1600" dirty="0"/>
          </a:p>
        </p:txBody>
      </p:sp>
      <p:sp>
        <p:nvSpPr>
          <p:cNvPr id="17" name="Text 15"/>
          <p:cNvSpPr/>
          <p:nvPr/>
        </p:nvSpPr>
        <p:spPr>
          <a:xfrm>
            <a:off x="8686800" y="2331720"/>
            <a:ext cx="3200400" cy="3840480"/>
          </a:xfrm>
          <a:prstGeom prst="rect">
            <a:avLst/>
          </a:prstGeom>
          <a:noFill/>
          <a:ln/>
        </p:spPr>
        <p:txBody>
          <a:bodyPr wrap="square" rtlCol="0" anchor="t"/>
          <a:lstStyle/>
          <a:p>
            <a:pPr indent="0" marL="0">
              <a:buNone/>
            </a:pPr>
            <a:r>
              <a:rPr lang="en-US" sz="1300" b="1" dirty="0">
                <a:solidFill>
                  <a:srgbClr val="251230"/>
                </a:solidFill>
                <a:latin typeface="Calibri" pitchFamily="34" charset="0"/>
                <a:ea typeface="Calibri" pitchFamily="34" charset="-122"/>
                <a:cs typeface="Calibri" pitchFamily="34" charset="-120"/>
              </a:rPr>
              <a:t>Both agree </a:t>
            </a:r>
            <a:pPr indent="0" marL="0">
              <a:buNone/>
            </a:pPr>
            <a:r>
              <a:rPr lang="en-US" sz="1300" dirty="0">
                <a:solidFill>
                  <a:srgbClr val="1F1226"/>
                </a:solidFill>
                <a:latin typeface="Calibri" pitchFamily="34" charset="0"/>
                <a:ea typeface="Calibri" pitchFamily="34" charset="-122"/>
                <a:cs typeface="Calibri" pitchFamily="34" charset="-120"/>
              </a:rPr>
              <a:t>— the strongest defense for any peer list we publish.
</a:t>
            </a:r>
            <a:pPr indent="0" marL="0">
              <a:buNone/>
            </a:pPr>
            <a:r>
              <a:rPr lang="en-US" sz="1300" b="1" dirty="0">
                <a:solidFill>
                  <a:srgbClr val="602D89"/>
                </a:solidFill>
                <a:latin typeface="Calibri" pitchFamily="34" charset="0"/>
                <a:ea typeface="Calibri" pitchFamily="34" charset="-122"/>
                <a:cs typeface="Calibri" pitchFamily="34" charset="-120"/>
              </a:rPr>
              <a:t>Euclidean only </a:t>
            </a:r>
            <a:pPr indent="0" marL="0">
              <a:buNone/>
            </a:pPr>
            <a:r>
              <a:rPr lang="en-US" sz="1300" dirty="0">
                <a:solidFill>
                  <a:srgbClr val="1F1226"/>
                </a:solidFill>
                <a:latin typeface="Calibri" pitchFamily="34" charset="0"/>
                <a:ea typeface="Calibri" pitchFamily="34" charset="-122"/>
                <a:cs typeface="Calibri" pitchFamily="34" charset="-120"/>
              </a:rPr>
              <a:t>— similar on the specific metrics we weighted.
</a:t>
            </a:r>
            <a:pPr indent="0" marL="0">
              <a:buNone/>
            </a:pPr>
            <a:r>
              <a:rPr lang="en-US" sz="1300" b="1" dirty="0">
                <a:solidFill>
                  <a:srgbClr val="EA580C"/>
                </a:solidFill>
                <a:latin typeface="Calibri" pitchFamily="34" charset="0"/>
                <a:ea typeface="Calibri" pitchFamily="34" charset="-122"/>
                <a:cs typeface="Calibri" pitchFamily="34" charset="-120"/>
              </a:rPr>
              <a:t>Mahalanobis only </a:t>
            </a:r>
            <a:pPr indent="0" marL="0">
              <a:buNone/>
            </a:pPr>
            <a:r>
              <a:rPr lang="en-US" sz="1300" dirty="0">
                <a:solidFill>
                  <a:srgbClr val="1F1226"/>
                </a:solidFill>
                <a:latin typeface="Calibri" pitchFamily="34" charset="0"/>
                <a:ea typeface="Calibri" pitchFamily="34" charset="-122"/>
                <a:cs typeface="Calibri" pitchFamily="34" charset="-120"/>
              </a:rPr>
              <a:t>— share our institutional archetype.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11247120" cy="822960"/>
          </a:xfrm>
          <a:prstGeom prst="rect">
            <a:avLst/>
          </a:prstGeom>
          <a:noFill/>
          <a:ln/>
        </p:spPr>
        <p:txBody>
          <a:bodyPr wrap="square" rtlCol="0" anchor="ctr"/>
          <a:lstStyle/>
          <a:p>
            <a:pPr indent="0" marL="0">
              <a:buNone/>
            </a:pPr>
            <a:r>
              <a:rPr lang="en-US" sz="3600" b="1" dirty="0">
                <a:solidFill>
                  <a:srgbClr val="251230"/>
                </a:solidFill>
                <a:latin typeface="Cambria" pitchFamily="34" charset="0"/>
                <a:ea typeface="Cambria" pitchFamily="34" charset="-122"/>
                <a:cs typeface="Cambria" pitchFamily="34" charset="-120"/>
              </a:rPr>
              <a:t>What goes in</a:t>
            </a:r>
            <a:endParaRPr lang="en-US" sz="3600" dirty="0"/>
          </a:p>
        </p:txBody>
      </p:sp>
      <p:sp>
        <p:nvSpPr>
          <p:cNvPr id="3" name="Text 1"/>
          <p:cNvSpPr/>
          <p:nvPr/>
        </p:nvSpPr>
        <p:spPr>
          <a:xfrm>
            <a:off x="457200" y="1143000"/>
            <a:ext cx="11247120" cy="457200"/>
          </a:xfrm>
          <a:prstGeom prst="rect">
            <a:avLst/>
          </a:prstGeom>
          <a:noFill/>
          <a:ln/>
        </p:spPr>
        <p:txBody>
          <a:bodyPr wrap="square" rtlCol="0" anchor="ctr"/>
          <a:lstStyle/>
          <a:p>
            <a:pPr indent="0" marL="0">
              <a:buNone/>
            </a:pPr>
            <a:r>
              <a:rPr lang="en-US" sz="1500" i="1" dirty="0">
                <a:solidFill>
                  <a:srgbClr val="5A4A62"/>
                </a:solidFill>
                <a:latin typeface="Calibri" pitchFamily="34" charset="0"/>
                <a:ea typeface="Calibri" pitchFamily="34" charset="-122"/>
                <a:cs typeface="Calibri" pitchFamily="34" charset="-120"/>
              </a:rPr>
              <a:t>47 clustering variables across 8 themes, drawn from 7 authoritative sources.</a:t>
            </a:r>
            <a:endParaRPr lang="en-US" sz="1500" dirty="0"/>
          </a:p>
        </p:txBody>
      </p:sp>
      <p:sp>
        <p:nvSpPr>
          <p:cNvPr id="4" name="Shape 2"/>
          <p:cNvSpPr/>
          <p:nvPr/>
        </p:nvSpPr>
        <p:spPr>
          <a:xfrm>
            <a:off x="548640" y="1828800"/>
            <a:ext cx="5669280" cy="457200"/>
          </a:xfrm>
          <a:prstGeom prst="rect">
            <a:avLst/>
          </a:prstGeom>
          <a:solidFill>
            <a:srgbClr val="602D89"/>
          </a:solidFill>
          <a:ln/>
        </p:spPr>
      </p:sp>
      <p:sp>
        <p:nvSpPr>
          <p:cNvPr id="5" name="Text 3"/>
          <p:cNvSpPr/>
          <p:nvPr/>
        </p:nvSpPr>
        <p:spPr>
          <a:xfrm>
            <a:off x="548640" y="1828800"/>
            <a:ext cx="5669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THEMES</a:t>
            </a:r>
            <a:endParaRPr lang="en-US" sz="1400" dirty="0"/>
          </a:p>
        </p:txBody>
      </p:sp>
      <p:sp>
        <p:nvSpPr>
          <p:cNvPr id="6" name="Shape 4"/>
          <p:cNvSpPr/>
          <p:nvPr/>
        </p:nvSpPr>
        <p:spPr>
          <a:xfrm>
            <a:off x="548640" y="2286000"/>
            <a:ext cx="5669280" cy="411480"/>
          </a:xfrm>
          <a:prstGeom prst="rect">
            <a:avLst/>
          </a:prstGeom>
          <a:solidFill>
            <a:srgbClr val="FFFFFF"/>
          </a:solidFill>
          <a:ln w="3175">
            <a:solidFill>
              <a:srgbClr val="AC9E94"/>
            </a:solidFill>
            <a:prstDash val="solid"/>
          </a:ln>
        </p:spPr>
      </p:sp>
      <p:sp>
        <p:nvSpPr>
          <p:cNvPr id="7" name="Text 5"/>
          <p:cNvSpPr/>
          <p:nvPr/>
        </p:nvSpPr>
        <p:spPr>
          <a:xfrm>
            <a:off x="685800" y="228600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Student body</a:t>
            </a:r>
            <a:endParaRPr lang="en-US" sz="1200" dirty="0"/>
          </a:p>
        </p:txBody>
      </p:sp>
      <p:sp>
        <p:nvSpPr>
          <p:cNvPr id="8" name="Text 6"/>
          <p:cNvSpPr/>
          <p:nvPr/>
        </p:nvSpPr>
        <p:spPr>
          <a:xfrm>
            <a:off x="2377440" y="228600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9</a:t>
            </a:r>
            <a:endParaRPr lang="en-US" sz="1200" dirty="0"/>
          </a:p>
        </p:txBody>
      </p:sp>
      <p:sp>
        <p:nvSpPr>
          <p:cNvPr id="9" name="Text 7"/>
          <p:cNvSpPr/>
          <p:nvPr/>
        </p:nvSpPr>
        <p:spPr>
          <a:xfrm>
            <a:off x="2880360" y="228600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race, first-gen, income, part-time, residential</a:t>
            </a:r>
            <a:endParaRPr lang="en-US" sz="1100" dirty="0"/>
          </a:p>
        </p:txBody>
      </p:sp>
      <p:sp>
        <p:nvSpPr>
          <p:cNvPr id="10" name="Shape 8"/>
          <p:cNvSpPr/>
          <p:nvPr/>
        </p:nvSpPr>
        <p:spPr>
          <a:xfrm>
            <a:off x="548640" y="2697480"/>
            <a:ext cx="5669280" cy="411480"/>
          </a:xfrm>
          <a:prstGeom prst="rect">
            <a:avLst/>
          </a:prstGeom>
          <a:solidFill>
            <a:srgbClr val="F4EDEC"/>
          </a:solidFill>
          <a:ln w="3175">
            <a:solidFill>
              <a:srgbClr val="AC9E94"/>
            </a:solidFill>
            <a:prstDash val="solid"/>
          </a:ln>
        </p:spPr>
      </p:sp>
      <p:sp>
        <p:nvSpPr>
          <p:cNvPr id="11" name="Text 9"/>
          <p:cNvSpPr/>
          <p:nvPr/>
        </p:nvSpPr>
        <p:spPr>
          <a:xfrm>
            <a:off x="685800" y="269748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Aid</a:t>
            </a:r>
            <a:endParaRPr lang="en-US" sz="1200" dirty="0"/>
          </a:p>
        </p:txBody>
      </p:sp>
      <p:sp>
        <p:nvSpPr>
          <p:cNvPr id="12" name="Text 10"/>
          <p:cNvSpPr/>
          <p:nvPr/>
        </p:nvSpPr>
        <p:spPr>
          <a:xfrm>
            <a:off x="2377440" y="269748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8</a:t>
            </a:r>
            <a:endParaRPr lang="en-US" sz="1200" dirty="0"/>
          </a:p>
        </p:txBody>
      </p:sp>
      <p:sp>
        <p:nvSpPr>
          <p:cNvPr id="13" name="Text 11"/>
          <p:cNvSpPr/>
          <p:nvPr/>
        </p:nvSpPr>
        <p:spPr>
          <a:xfrm>
            <a:off x="2880360" y="269748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net price, Pell, discount rate, loans, need met</a:t>
            </a:r>
            <a:endParaRPr lang="en-US" sz="1100" dirty="0"/>
          </a:p>
        </p:txBody>
      </p:sp>
      <p:sp>
        <p:nvSpPr>
          <p:cNvPr id="14" name="Shape 12"/>
          <p:cNvSpPr/>
          <p:nvPr/>
        </p:nvSpPr>
        <p:spPr>
          <a:xfrm>
            <a:off x="548640" y="3108960"/>
            <a:ext cx="5669280" cy="411480"/>
          </a:xfrm>
          <a:prstGeom prst="rect">
            <a:avLst/>
          </a:prstGeom>
          <a:solidFill>
            <a:srgbClr val="FFFFFF"/>
          </a:solidFill>
          <a:ln w="3175">
            <a:solidFill>
              <a:srgbClr val="AC9E94"/>
            </a:solidFill>
            <a:prstDash val="solid"/>
          </a:ln>
        </p:spPr>
      </p:sp>
      <p:sp>
        <p:nvSpPr>
          <p:cNvPr id="15" name="Text 13"/>
          <p:cNvSpPr/>
          <p:nvPr/>
        </p:nvSpPr>
        <p:spPr>
          <a:xfrm>
            <a:off x="685800" y="310896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Outcomes</a:t>
            </a:r>
            <a:endParaRPr lang="en-US" sz="1200" dirty="0"/>
          </a:p>
        </p:txBody>
      </p:sp>
      <p:sp>
        <p:nvSpPr>
          <p:cNvPr id="16" name="Text 14"/>
          <p:cNvSpPr/>
          <p:nvPr/>
        </p:nvSpPr>
        <p:spPr>
          <a:xfrm>
            <a:off x="2377440" y="310896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7</a:t>
            </a:r>
            <a:endParaRPr lang="en-US" sz="1200" dirty="0"/>
          </a:p>
        </p:txBody>
      </p:sp>
      <p:sp>
        <p:nvSpPr>
          <p:cNvPr id="17" name="Text 15"/>
          <p:cNvSpPr/>
          <p:nvPr/>
        </p:nvSpPr>
        <p:spPr>
          <a:xfrm>
            <a:off x="2880360" y="310896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grad rate, retention, earnings, loan repayment</a:t>
            </a:r>
            <a:endParaRPr lang="en-US" sz="1100" dirty="0"/>
          </a:p>
        </p:txBody>
      </p:sp>
      <p:sp>
        <p:nvSpPr>
          <p:cNvPr id="18" name="Shape 16"/>
          <p:cNvSpPr/>
          <p:nvPr/>
        </p:nvSpPr>
        <p:spPr>
          <a:xfrm>
            <a:off x="548640" y="3520440"/>
            <a:ext cx="5669280" cy="411480"/>
          </a:xfrm>
          <a:prstGeom prst="rect">
            <a:avLst/>
          </a:prstGeom>
          <a:solidFill>
            <a:srgbClr val="F4EDEC"/>
          </a:solidFill>
          <a:ln w="3175">
            <a:solidFill>
              <a:srgbClr val="AC9E94"/>
            </a:solidFill>
            <a:prstDash val="solid"/>
          </a:ln>
        </p:spPr>
      </p:sp>
      <p:sp>
        <p:nvSpPr>
          <p:cNvPr id="19" name="Text 17"/>
          <p:cNvSpPr/>
          <p:nvPr/>
        </p:nvSpPr>
        <p:spPr>
          <a:xfrm>
            <a:off x="685800" y="352044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Resources</a:t>
            </a:r>
            <a:endParaRPr lang="en-US" sz="1200" dirty="0"/>
          </a:p>
        </p:txBody>
      </p:sp>
      <p:sp>
        <p:nvSpPr>
          <p:cNvPr id="20" name="Text 18"/>
          <p:cNvSpPr/>
          <p:nvPr/>
        </p:nvSpPr>
        <p:spPr>
          <a:xfrm>
            <a:off x="2377440" y="352044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7</a:t>
            </a:r>
            <a:endParaRPr lang="en-US" sz="1200" dirty="0"/>
          </a:p>
        </p:txBody>
      </p:sp>
      <p:sp>
        <p:nvSpPr>
          <p:cNvPr id="21" name="Text 19"/>
          <p:cNvSpPr/>
          <p:nvPr/>
        </p:nvSpPr>
        <p:spPr>
          <a:xfrm>
            <a:off x="2880360" y="352044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faculty ratio/salary, instruction/support spending</a:t>
            </a:r>
            <a:endParaRPr lang="en-US" sz="1100" dirty="0"/>
          </a:p>
        </p:txBody>
      </p:sp>
      <p:sp>
        <p:nvSpPr>
          <p:cNvPr id="22" name="Shape 20"/>
          <p:cNvSpPr/>
          <p:nvPr/>
        </p:nvSpPr>
        <p:spPr>
          <a:xfrm>
            <a:off x="548640" y="3931920"/>
            <a:ext cx="5669280" cy="411480"/>
          </a:xfrm>
          <a:prstGeom prst="rect">
            <a:avLst/>
          </a:prstGeom>
          <a:solidFill>
            <a:srgbClr val="FFFFFF"/>
          </a:solidFill>
          <a:ln w="3175">
            <a:solidFill>
              <a:srgbClr val="AC9E94"/>
            </a:solidFill>
            <a:prstDash val="solid"/>
          </a:ln>
        </p:spPr>
      </p:sp>
      <p:sp>
        <p:nvSpPr>
          <p:cNvPr id="23" name="Text 21"/>
          <p:cNvSpPr/>
          <p:nvPr/>
        </p:nvSpPr>
        <p:spPr>
          <a:xfrm>
            <a:off x="685800" y="393192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Selectivity</a:t>
            </a:r>
            <a:endParaRPr lang="en-US" sz="1200" dirty="0"/>
          </a:p>
        </p:txBody>
      </p:sp>
      <p:sp>
        <p:nvSpPr>
          <p:cNvPr id="24" name="Text 22"/>
          <p:cNvSpPr/>
          <p:nvPr/>
        </p:nvSpPr>
        <p:spPr>
          <a:xfrm>
            <a:off x="2377440" y="393192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2880360" y="393192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admit rate, yield, applications, top-10% HS</a:t>
            </a:r>
            <a:endParaRPr lang="en-US" sz="1100" dirty="0"/>
          </a:p>
        </p:txBody>
      </p:sp>
      <p:sp>
        <p:nvSpPr>
          <p:cNvPr id="26" name="Shape 24"/>
          <p:cNvSpPr/>
          <p:nvPr/>
        </p:nvSpPr>
        <p:spPr>
          <a:xfrm>
            <a:off x="548640" y="4343400"/>
            <a:ext cx="5669280" cy="411480"/>
          </a:xfrm>
          <a:prstGeom prst="rect">
            <a:avLst/>
          </a:prstGeom>
          <a:solidFill>
            <a:srgbClr val="F4EDEC"/>
          </a:solidFill>
          <a:ln w="3175">
            <a:solidFill>
              <a:srgbClr val="AC9E94"/>
            </a:solidFill>
            <a:prstDash val="solid"/>
          </a:ln>
        </p:spPr>
      </p:sp>
      <p:sp>
        <p:nvSpPr>
          <p:cNvPr id="27" name="Text 25"/>
          <p:cNvSpPr/>
          <p:nvPr/>
        </p:nvSpPr>
        <p:spPr>
          <a:xfrm>
            <a:off x="685800" y="434340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Finance</a:t>
            </a:r>
            <a:endParaRPr lang="en-US" sz="1200" dirty="0"/>
          </a:p>
        </p:txBody>
      </p:sp>
      <p:sp>
        <p:nvSpPr>
          <p:cNvPr id="28" name="Text 26"/>
          <p:cNvSpPr/>
          <p:nvPr/>
        </p:nvSpPr>
        <p:spPr>
          <a:xfrm>
            <a:off x="2377440" y="434340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5</a:t>
            </a:r>
            <a:endParaRPr lang="en-US" sz="1200" dirty="0"/>
          </a:p>
        </p:txBody>
      </p:sp>
      <p:sp>
        <p:nvSpPr>
          <p:cNvPr id="29" name="Text 27"/>
          <p:cNvSpPr/>
          <p:nvPr/>
        </p:nvSpPr>
        <p:spPr>
          <a:xfrm>
            <a:off x="2880360" y="434340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endowment/FTE, operating margin, tuition, expenses</a:t>
            </a:r>
            <a:endParaRPr lang="en-US" sz="1100" dirty="0"/>
          </a:p>
        </p:txBody>
      </p:sp>
      <p:sp>
        <p:nvSpPr>
          <p:cNvPr id="30" name="Shape 28"/>
          <p:cNvSpPr/>
          <p:nvPr/>
        </p:nvSpPr>
        <p:spPr>
          <a:xfrm>
            <a:off x="548640" y="4754880"/>
            <a:ext cx="5669280" cy="411480"/>
          </a:xfrm>
          <a:prstGeom prst="rect">
            <a:avLst/>
          </a:prstGeom>
          <a:solidFill>
            <a:srgbClr val="FFFFFF"/>
          </a:solidFill>
          <a:ln w="3175">
            <a:solidFill>
              <a:srgbClr val="AC9E94"/>
            </a:solidFill>
            <a:prstDash val="solid"/>
          </a:ln>
        </p:spPr>
      </p:sp>
      <p:sp>
        <p:nvSpPr>
          <p:cNvPr id="31" name="Text 29"/>
          <p:cNvSpPr/>
          <p:nvPr/>
        </p:nvSpPr>
        <p:spPr>
          <a:xfrm>
            <a:off x="685800" y="475488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Athletics</a:t>
            </a:r>
            <a:endParaRPr lang="en-US" sz="1200" dirty="0"/>
          </a:p>
        </p:txBody>
      </p:sp>
      <p:sp>
        <p:nvSpPr>
          <p:cNvPr id="32" name="Text 30"/>
          <p:cNvSpPr/>
          <p:nvPr/>
        </p:nvSpPr>
        <p:spPr>
          <a:xfrm>
            <a:off x="2377440" y="475488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3</a:t>
            </a:r>
            <a:endParaRPr lang="en-US" sz="1200" dirty="0"/>
          </a:p>
        </p:txBody>
      </p:sp>
      <p:sp>
        <p:nvSpPr>
          <p:cNvPr id="33" name="Text 31"/>
          <p:cNvSpPr/>
          <p:nvPr/>
        </p:nvSpPr>
        <p:spPr>
          <a:xfrm>
            <a:off x="2880360" y="475488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division, athletes/UG, multi-sport ratio</a:t>
            </a:r>
            <a:endParaRPr lang="en-US" sz="1100" dirty="0"/>
          </a:p>
        </p:txBody>
      </p:sp>
      <p:sp>
        <p:nvSpPr>
          <p:cNvPr id="34" name="Shape 32"/>
          <p:cNvSpPr/>
          <p:nvPr/>
        </p:nvSpPr>
        <p:spPr>
          <a:xfrm>
            <a:off x="548640" y="5166360"/>
            <a:ext cx="5669280" cy="411480"/>
          </a:xfrm>
          <a:prstGeom prst="rect">
            <a:avLst/>
          </a:prstGeom>
          <a:solidFill>
            <a:srgbClr val="F4EDEC"/>
          </a:solidFill>
          <a:ln w="3175">
            <a:solidFill>
              <a:srgbClr val="AC9E94"/>
            </a:solidFill>
            <a:prstDash val="solid"/>
          </a:ln>
        </p:spPr>
      </p:sp>
      <p:sp>
        <p:nvSpPr>
          <p:cNvPr id="35" name="Text 33"/>
          <p:cNvSpPr/>
          <p:nvPr/>
        </p:nvSpPr>
        <p:spPr>
          <a:xfrm>
            <a:off x="685800" y="5166360"/>
            <a:ext cx="1737360" cy="411480"/>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Size</a:t>
            </a:r>
            <a:endParaRPr lang="en-US" sz="1200" dirty="0"/>
          </a:p>
        </p:txBody>
      </p:sp>
      <p:sp>
        <p:nvSpPr>
          <p:cNvPr id="36" name="Text 34"/>
          <p:cNvSpPr/>
          <p:nvPr/>
        </p:nvSpPr>
        <p:spPr>
          <a:xfrm>
            <a:off x="2377440" y="5166360"/>
            <a:ext cx="457200" cy="411480"/>
          </a:xfrm>
          <a:prstGeom prst="rect">
            <a:avLst/>
          </a:prstGeom>
          <a:noFill/>
          <a:ln/>
        </p:spPr>
        <p:txBody>
          <a:bodyPr wrap="square" lIns="0" tIns="0" rIns="0" bIns="0" rtlCol="0" anchor="ctr"/>
          <a:lstStyle/>
          <a:p>
            <a:pPr algn="ctr" indent="0" marL="0">
              <a:buNone/>
            </a:pPr>
            <a:r>
              <a:rPr lang="en-US" sz="1200" b="1" dirty="0">
                <a:solidFill>
                  <a:srgbClr val="602D89"/>
                </a:solidFill>
                <a:latin typeface="Calibri" pitchFamily="34" charset="0"/>
                <a:ea typeface="Calibri" pitchFamily="34" charset="-122"/>
                <a:cs typeface="Calibri" pitchFamily="34" charset="-120"/>
              </a:rPr>
              <a:t>2</a:t>
            </a:r>
            <a:endParaRPr lang="en-US" sz="1200" dirty="0"/>
          </a:p>
        </p:txBody>
      </p:sp>
      <p:sp>
        <p:nvSpPr>
          <p:cNvPr id="37" name="Text 35"/>
          <p:cNvSpPr/>
          <p:nvPr/>
        </p:nvSpPr>
        <p:spPr>
          <a:xfrm>
            <a:off x="2880360" y="5166360"/>
            <a:ext cx="3200400" cy="411480"/>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undergraduate enrollment, UG share</a:t>
            </a:r>
            <a:endParaRPr lang="en-US" sz="1100" dirty="0"/>
          </a:p>
        </p:txBody>
      </p:sp>
      <p:sp>
        <p:nvSpPr>
          <p:cNvPr id="38" name="Shape 36"/>
          <p:cNvSpPr/>
          <p:nvPr/>
        </p:nvSpPr>
        <p:spPr>
          <a:xfrm>
            <a:off x="6537960" y="1828800"/>
            <a:ext cx="5166360" cy="457200"/>
          </a:xfrm>
          <a:prstGeom prst="rect">
            <a:avLst/>
          </a:prstGeom>
          <a:solidFill>
            <a:srgbClr val="EA580C"/>
          </a:solidFill>
          <a:ln/>
        </p:spPr>
      </p:sp>
      <p:sp>
        <p:nvSpPr>
          <p:cNvPr id="39" name="Text 37"/>
          <p:cNvSpPr/>
          <p:nvPr/>
        </p:nvSpPr>
        <p:spPr>
          <a:xfrm>
            <a:off x="6537960" y="1828800"/>
            <a:ext cx="5166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 SOURCES</a:t>
            </a:r>
            <a:endParaRPr lang="en-US" sz="1400" dirty="0"/>
          </a:p>
        </p:txBody>
      </p:sp>
      <p:sp>
        <p:nvSpPr>
          <p:cNvPr id="40" name="Shape 38"/>
          <p:cNvSpPr/>
          <p:nvPr/>
        </p:nvSpPr>
        <p:spPr>
          <a:xfrm>
            <a:off x="6537960" y="2286000"/>
            <a:ext cx="5166360" cy="466344"/>
          </a:xfrm>
          <a:prstGeom prst="rect">
            <a:avLst/>
          </a:prstGeom>
          <a:solidFill>
            <a:srgbClr val="FFFFFF"/>
          </a:solidFill>
          <a:ln w="3175">
            <a:solidFill>
              <a:srgbClr val="AC9E94"/>
            </a:solidFill>
            <a:prstDash val="solid"/>
          </a:ln>
        </p:spPr>
      </p:sp>
      <p:sp>
        <p:nvSpPr>
          <p:cNvPr id="41" name="Text 39"/>
          <p:cNvSpPr/>
          <p:nvPr/>
        </p:nvSpPr>
        <p:spPr>
          <a:xfrm>
            <a:off x="6675120" y="2286000"/>
            <a:ext cx="1691640" cy="466344"/>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IPEDS</a:t>
            </a:r>
            <a:endParaRPr lang="en-US" sz="1200" dirty="0"/>
          </a:p>
        </p:txBody>
      </p:sp>
      <p:sp>
        <p:nvSpPr>
          <p:cNvPr id="42" name="Text 40"/>
          <p:cNvSpPr/>
          <p:nvPr/>
        </p:nvSpPr>
        <p:spPr>
          <a:xfrm>
            <a:off x="8412480" y="2286000"/>
            <a:ext cx="3200400" cy="466344"/>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enrollment, admissions, finance, aid, grad rates, classifications</a:t>
            </a:r>
            <a:endParaRPr lang="en-US" sz="1100" dirty="0"/>
          </a:p>
        </p:txBody>
      </p:sp>
      <p:sp>
        <p:nvSpPr>
          <p:cNvPr id="43" name="Shape 41"/>
          <p:cNvSpPr/>
          <p:nvPr/>
        </p:nvSpPr>
        <p:spPr>
          <a:xfrm>
            <a:off x="6537960" y="2752344"/>
            <a:ext cx="5166360" cy="466344"/>
          </a:xfrm>
          <a:prstGeom prst="rect">
            <a:avLst/>
          </a:prstGeom>
          <a:solidFill>
            <a:srgbClr val="F4EDEC"/>
          </a:solidFill>
          <a:ln w="3175">
            <a:solidFill>
              <a:srgbClr val="AC9E94"/>
            </a:solidFill>
            <a:prstDash val="solid"/>
          </a:ln>
        </p:spPr>
      </p:sp>
      <p:sp>
        <p:nvSpPr>
          <p:cNvPr id="44" name="Text 42"/>
          <p:cNvSpPr/>
          <p:nvPr/>
        </p:nvSpPr>
        <p:spPr>
          <a:xfrm>
            <a:off x="6675120" y="2752344"/>
            <a:ext cx="1691640" cy="466344"/>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Common Data Set</a:t>
            </a:r>
            <a:endParaRPr lang="en-US" sz="1200" dirty="0"/>
          </a:p>
        </p:txBody>
      </p:sp>
      <p:sp>
        <p:nvSpPr>
          <p:cNvPr id="45" name="Text 43"/>
          <p:cNvSpPr/>
          <p:nvPr/>
        </p:nvSpPr>
        <p:spPr>
          <a:xfrm>
            <a:off x="8412480" y="2752344"/>
            <a:ext cx="3200400" cy="466344"/>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need met, top-10% HS, residential, class sizes (via Academic Insights)</a:t>
            </a:r>
            <a:endParaRPr lang="en-US" sz="1100" dirty="0"/>
          </a:p>
        </p:txBody>
      </p:sp>
      <p:sp>
        <p:nvSpPr>
          <p:cNvPr id="46" name="Shape 44"/>
          <p:cNvSpPr/>
          <p:nvPr/>
        </p:nvSpPr>
        <p:spPr>
          <a:xfrm>
            <a:off x="6537960" y="3218688"/>
            <a:ext cx="5166360" cy="466344"/>
          </a:xfrm>
          <a:prstGeom prst="rect">
            <a:avLst/>
          </a:prstGeom>
          <a:solidFill>
            <a:srgbClr val="FFFFFF"/>
          </a:solidFill>
          <a:ln w="3175">
            <a:solidFill>
              <a:srgbClr val="AC9E94"/>
            </a:solidFill>
            <a:prstDash val="solid"/>
          </a:ln>
        </p:spPr>
      </p:sp>
      <p:sp>
        <p:nvSpPr>
          <p:cNvPr id="47" name="Text 45"/>
          <p:cNvSpPr/>
          <p:nvPr/>
        </p:nvSpPr>
        <p:spPr>
          <a:xfrm>
            <a:off x="6675120" y="3218688"/>
            <a:ext cx="1691640" cy="466344"/>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College Scorecard</a:t>
            </a:r>
            <a:endParaRPr lang="en-US" sz="1200" dirty="0"/>
          </a:p>
        </p:txBody>
      </p:sp>
      <p:sp>
        <p:nvSpPr>
          <p:cNvPr id="48" name="Text 46"/>
          <p:cNvSpPr/>
          <p:nvPr/>
        </p:nvSpPr>
        <p:spPr>
          <a:xfrm>
            <a:off x="8412480" y="3218688"/>
            <a:ext cx="3200400" cy="466344"/>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10-year median earnings, loan repayment</a:t>
            </a:r>
            <a:endParaRPr lang="en-US" sz="1100" dirty="0"/>
          </a:p>
        </p:txBody>
      </p:sp>
      <p:sp>
        <p:nvSpPr>
          <p:cNvPr id="49" name="Shape 47"/>
          <p:cNvSpPr/>
          <p:nvPr/>
        </p:nvSpPr>
        <p:spPr>
          <a:xfrm>
            <a:off x="6537960" y="3685032"/>
            <a:ext cx="5166360" cy="466344"/>
          </a:xfrm>
          <a:prstGeom prst="rect">
            <a:avLst/>
          </a:prstGeom>
          <a:solidFill>
            <a:srgbClr val="F4EDEC"/>
          </a:solidFill>
          <a:ln w="3175">
            <a:solidFill>
              <a:srgbClr val="AC9E94"/>
            </a:solidFill>
            <a:prstDash val="solid"/>
          </a:ln>
        </p:spPr>
      </p:sp>
      <p:sp>
        <p:nvSpPr>
          <p:cNvPr id="50" name="Text 48"/>
          <p:cNvSpPr/>
          <p:nvPr/>
        </p:nvSpPr>
        <p:spPr>
          <a:xfrm>
            <a:off x="6675120" y="3685032"/>
            <a:ext cx="1691640" cy="466344"/>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Carnegie 2025</a:t>
            </a:r>
            <a:endParaRPr lang="en-US" sz="1200" dirty="0"/>
          </a:p>
        </p:txBody>
      </p:sp>
      <p:sp>
        <p:nvSpPr>
          <p:cNvPr id="51" name="Text 49"/>
          <p:cNvSpPr/>
          <p:nvPr/>
        </p:nvSpPr>
        <p:spPr>
          <a:xfrm>
            <a:off x="8412480" y="3685032"/>
            <a:ext cx="3200400" cy="466344"/>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classifications + HERD research expenditures</a:t>
            </a:r>
            <a:endParaRPr lang="en-US" sz="1100" dirty="0"/>
          </a:p>
        </p:txBody>
      </p:sp>
      <p:sp>
        <p:nvSpPr>
          <p:cNvPr id="52" name="Shape 50"/>
          <p:cNvSpPr/>
          <p:nvPr/>
        </p:nvSpPr>
        <p:spPr>
          <a:xfrm>
            <a:off x="6537960" y="4151376"/>
            <a:ext cx="5166360" cy="466344"/>
          </a:xfrm>
          <a:prstGeom prst="rect">
            <a:avLst/>
          </a:prstGeom>
          <a:solidFill>
            <a:srgbClr val="FFFFFF"/>
          </a:solidFill>
          <a:ln w="3175">
            <a:solidFill>
              <a:srgbClr val="AC9E94"/>
            </a:solidFill>
            <a:prstDash val="solid"/>
          </a:ln>
        </p:spPr>
      </p:sp>
      <p:sp>
        <p:nvSpPr>
          <p:cNvPr id="53" name="Text 51"/>
          <p:cNvSpPr/>
          <p:nvPr/>
        </p:nvSpPr>
        <p:spPr>
          <a:xfrm>
            <a:off x="6675120" y="4151376"/>
            <a:ext cx="1691640" cy="466344"/>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US News, WaMo, Forbes</a:t>
            </a:r>
            <a:endParaRPr lang="en-US" sz="1200" dirty="0"/>
          </a:p>
        </p:txBody>
      </p:sp>
      <p:sp>
        <p:nvSpPr>
          <p:cNvPr id="54" name="Text 52"/>
          <p:cNvSpPr/>
          <p:nvPr/>
        </p:nvSpPr>
        <p:spPr>
          <a:xfrm>
            <a:off x="8412480" y="4151376"/>
            <a:ext cx="3200400" cy="466344"/>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published rankings (2025)</a:t>
            </a:r>
            <a:endParaRPr lang="en-US" sz="1100" dirty="0"/>
          </a:p>
        </p:txBody>
      </p:sp>
      <p:sp>
        <p:nvSpPr>
          <p:cNvPr id="55" name="Shape 53"/>
          <p:cNvSpPr/>
          <p:nvPr/>
        </p:nvSpPr>
        <p:spPr>
          <a:xfrm>
            <a:off x="6537960" y="4617720"/>
            <a:ext cx="5166360" cy="466344"/>
          </a:xfrm>
          <a:prstGeom prst="rect">
            <a:avLst/>
          </a:prstGeom>
          <a:solidFill>
            <a:srgbClr val="F4EDEC"/>
          </a:solidFill>
          <a:ln w="3175">
            <a:solidFill>
              <a:srgbClr val="AC9E94"/>
            </a:solidFill>
            <a:prstDash val="solid"/>
          </a:ln>
        </p:spPr>
      </p:sp>
      <p:sp>
        <p:nvSpPr>
          <p:cNvPr id="56" name="Text 54"/>
          <p:cNvSpPr/>
          <p:nvPr/>
        </p:nvSpPr>
        <p:spPr>
          <a:xfrm>
            <a:off x="6675120" y="4617720"/>
            <a:ext cx="1691640" cy="466344"/>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EADA</a:t>
            </a:r>
            <a:endParaRPr lang="en-US" sz="1200" dirty="0"/>
          </a:p>
        </p:txBody>
      </p:sp>
      <p:sp>
        <p:nvSpPr>
          <p:cNvPr id="57" name="Text 55"/>
          <p:cNvSpPr/>
          <p:nvPr/>
        </p:nvSpPr>
        <p:spPr>
          <a:xfrm>
            <a:off x="8412480" y="4617720"/>
            <a:ext cx="3200400" cy="466344"/>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athletics: division, sports counts, athlete counts</a:t>
            </a:r>
            <a:endParaRPr lang="en-US" sz="1100" dirty="0"/>
          </a:p>
        </p:txBody>
      </p:sp>
      <p:sp>
        <p:nvSpPr>
          <p:cNvPr id="58" name="Shape 56"/>
          <p:cNvSpPr/>
          <p:nvPr/>
        </p:nvSpPr>
        <p:spPr>
          <a:xfrm>
            <a:off x="6537960" y="5084064"/>
            <a:ext cx="5166360" cy="466344"/>
          </a:xfrm>
          <a:prstGeom prst="rect">
            <a:avLst/>
          </a:prstGeom>
          <a:solidFill>
            <a:srgbClr val="FFFFFF"/>
          </a:solidFill>
          <a:ln w="3175">
            <a:solidFill>
              <a:srgbClr val="AC9E94"/>
            </a:solidFill>
            <a:prstDash val="solid"/>
          </a:ln>
        </p:spPr>
      </p:sp>
      <p:sp>
        <p:nvSpPr>
          <p:cNvPr id="59" name="Text 57"/>
          <p:cNvSpPr/>
          <p:nvPr/>
        </p:nvSpPr>
        <p:spPr>
          <a:xfrm>
            <a:off x="6675120" y="5084064"/>
            <a:ext cx="1691640" cy="466344"/>
          </a:xfrm>
          <a:prstGeom prst="rect">
            <a:avLst/>
          </a:prstGeom>
          <a:noFill/>
          <a:ln/>
        </p:spPr>
        <p:txBody>
          <a:bodyPr wrap="square" lIns="0" tIns="0" rIns="0" bIns="0" rtlCol="0" anchor="ctr"/>
          <a:lstStyle/>
          <a:p>
            <a:pPr indent="0" marL="0">
              <a:buNone/>
            </a:pPr>
            <a:r>
              <a:rPr lang="en-US" sz="1200" b="1" dirty="0">
                <a:solidFill>
                  <a:srgbClr val="251230"/>
                </a:solidFill>
                <a:latin typeface="Calibri" pitchFamily="34" charset="0"/>
                <a:ea typeface="Calibri" pitchFamily="34" charset="-122"/>
                <a:cs typeface="Calibri" pitchFamily="34" charset="-120"/>
              </a:rPr>
              <a:t>Wikipedia</a:t>
            </a:r>
            <a:endParaRPr lang="en-US" sz="1200" dirty="0"/>
          </a:p>
        </p:txBody>
      </p:sp>
      <p:sp>
        <p:nvSpPr>
          <p:cNvPr id="60" name="Text 58"/>
          <p:cNvSpPr/>
          <p:nvPr/>
        </p:nvSpPr>
        <p:spPr>
          <a:xfrm>
            <a:off x="8412480" y="5084064"/>
            <a:ext cx="3200400" cy="466344"/>
          </a:xfrm>
          <a:prstGeom prst="rect">
            <a:avLst/>
          </a:prstGeom>
          <a:noFill/>
          <a:ln/>
        </p:spPr>
        <p:txBody>
          <a:bodyPr wrap="square" lIns="0" tIns="0" rIns="0" bIns="0" rtlCol="0" anchor="ctr"/>
          <a:lstStyle/>
          <a:p>
            <a:pPr indent="0" marL="0">
              <a:buNone/>
            </a:pPr>
            <a:r>
              <a:rPr lang="en-US" sz="1100" dirty="0">
                <a:solidFill>
                  <a:srgbClr val="1F1226"/>
                </a:solidFill>
                <a:latin typeface="Calibri" pitchFamily="34" charset="0"/>
                <a:ea typeface="Calibri" pitchFamily="34" charset="-122"/>
                <a:cs typeface="Calibri" pitchFamily="34" charset="-120"/>
              </a:rPr>
              <a:t>athletic conference (matched to EADA)</a:t>
            </a:r>
            <a:endParaRPr lang="en-US" sz="1100" dirty="0"/>
          </a:p>
        </p:txBody>
      </p:sp>
      <p:sp>
        <p:nvSpPr>
          <p:cNvPr id="61" name="Text 59"/>
          <p:cNvSpPr/>
          <p:nvPr/>
        </p:nvSpPr>
        <p:spPr>
          <a:xfrm>
            <a:off x="457200" y="6035040"/>
            <a:ext cx="11247120" cy="320040"/>
          </a:xfrm>
          <a:prstGeom prst="rect">
            <a:avLst/>
          </a:prstGeom>
          <a:noFill/>
          <a:ln/>
        </p:spPr>
        <p:txBody>
          <a:bodyPr wrap="square" rtlCol="0" anchor="ctr"/>
          <a:lstStyle/>
          <a:p>
            <a:pPr algn="ctr" indent="0" marL="0">
              <a:buNone/>
            </a:pPr>
            <a:r>
              <a:rPr lang="en-US" sz="1300" i="1" dirty="0">
                <a:solidFill>
                  <a:srgbClr val="5A4A62"/>
                </a:solidFill>
                <a:latin typeface="Calibri" pitchFamily="34" charset="0"/>
                <a:ea typeface="Calibri" pitchFamily="34" charset="-122"/>
                <a:cs typeface="Calibri" pitchFamily="34" charset="-120"/>
              </a:rPr>
              <a:t>Universe: ~1,460 US News-ranked four-year non-profit institutions.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02D89"/>
        </a:solidFill>
      </p:bgPr>
    </p:bg>
    <p:spTree>
      <p:nvGrpSpPr>
        <p:cNvPr id="1" name=""/>
        <p:cNvGrpSpPr/>
        <p:nvPr/>
      </p:nvGrpSpPr>
      <p:grpSpPr>
        <a:xfrm>
          <a:off x="0" y="0"/>
          <a:ext cx="0" cy="0"/>
          <a:chOff x="0" y="0"/>
          <a:chExt cx="0" cy="0"/>
        </a:xfrm>
      </p:grpSpPr>
      <p:sp>
        <p:nvSpPr>
          <p:cNvPr id="2" name="Text 0"/>
          <p:cNvSpPr/>
          <p:nvPr/>
        </p:nvSpPr>
        <p:spPr>
          <a:xfrm>
            <a:off x="457200" y="2468880"/>
            <a:ext cx="11247120" cy="1097280"/>
          </a:xfrm>
          <a:prstGeom prst="rect">
            <a:avLst/>
          </a:prstGeom>
          <a:noFill/>
          <a:ln/>
        </p:spPr>
        <p:txBody>
          <a:bodyPr wrap="square"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Let's see it in action</a:t>
            </a:r>
            <a:endParaRPr lang="en-US" sz="6000" dirty="0"/>
          </a:p>
        </p:txBody>
      </p:sp>
      <p:sp>
        <p:nvSpPr>
          <p:cNvPr id="3" name="Text 1"/>
          <p:cNvSpPr/>
          <p:nvPr/>
        </p:nvSpPr>
        <p:spPr>
          <a:xfrm>
            <a:off x="457200" y="3749040"/>
            <a:ext cx="11247120" cy="548640"/>
          </a:xfrm>
          <a:prstGeom prst="rect">
            <a:avLst/>
          </a:prstGeom>
          <a:noFill/>
          <a:ln/>
        </p:spPr>
        <p:txBody>
          <a:bodyPr wrap="square" rtlCol="0" anchor="ctr"/>
          <a:lstStyle/>
          <a:p>
            <a:pPr algn="ctr" indent="0" marL="0">
              <a:buNone/>
            </a:pPr>
            <a:r>
              <a:rPr lang="en-US" sz="2200" i="1" dirty="0">
                <a:solidFill>
                  <a:srgbClr val="F4EDEC"/>
                </a:solidFill>
                <a:latin typeface="Calibri" pitchFamily="34" charset="0"/>
                <a:ea typeface="Calibri" pitchFamily="34" charset="-122"/>
                <a:cs typeface="Calibri" pitchFamily="34" charset="-120"/>
              </a:rPr>
              <a:t>Anchor: College of the Holy Cross</a:t>
            </a:r>
            <a:endParaRPr lang="en-US" sz="2200" dirty="0"/>
          </a:p>
        </p:txBody>
      </p:sp>
      <p:sp>
        <p:nvSpPr>
          <p:cNvPr id="4" name="Shape 2"/>
          <p:cNvSpPr/>
          <p:nvPr/>
        </p:nvSpPr>
        <p:spPr>
          <a:xfrm>
            <a:off x="5166360" y="4389120"/>
            <a:ext cx="1828800" cy="45720"/>
          </a:xfrm>
          <a:prstGeom prst="rect">
            <a:avLst/>
          </a:prstGeom>
          <a:solidFill>
            <a:srgbClr val="EA580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Peer Schools Explorer — Leadership Introduction</dc:title>
  <dc:subject>PptxGenJS Presentation</dc:subject>
  <dc:creator>Chris Wenz, Holy Cross Institutional Research</dc:creator>
  <cp:lastModifiedBy>Chris Wenz, Holy Cross Institutional Research</cp:lastModifiedBy>
  <cp:revision>1</cp:revision>
  <dcterms:created xsi:type="dcterms:W3CDTF">2026-08-18T13:01:55Z</dcterms:created>
  <dcterms:modified xsi:type="dcterms:W3CDTF">2026-08-18T13:01:55Z</dcterms:modified>
</cp:coreProperties>
</file>